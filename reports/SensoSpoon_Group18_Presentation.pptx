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IBM Plex Mono Bold" charset="1" panose="020B0809050203000203"/>
      <p:regular r:id="rId21"/>
    </p:embeddedFont>
    <p:embeddedFont>
      <p:font typeface="Montserrat Bold" charset="1" panose="00000800000000000000"/>
      <p:regular r:id="rId22"/>
    </p:embeddedFont>
    <p:embeddedFont>
      <p:font typeface="DM Sans" charset="1" panose="00000000000000000000"/>
      <p:regular r:id="rId23"/>
    </p:embeddedFont>
    <p:embeddedFont>
      <p:font typeface="HK Grotesk Bold" charset="1" panose="00000800000000000000"/>
      <p:regular r:id="rId24"/>
    </p:embeddedFont>
    <p:embeddedFont>
      <p:font typeface="HK Grotesk" charset="1" panose="00000500000000000000"/>
      <p:regular r:id="rId25"/>
    </p:embeddedFont>
    <p:embeddedFont>
      <p:font typeface="HK Grotesk Italics" charset="1" panose="00000500000000000000"/>
      <p:regular r:id="rId26"/>
    </p:embeddedFont>
    <p:embeddedFont>
      <p:font typeface="IBM Plex Mono" charset="1" panose="020B0509050203000203"/>
      <p:regular r:id="rId27"/>
    </p:embeddedFont>
    <p:embeddedFont>
      <p:font typeface="DM Sans Bold" charset="1" panose="00000000000000000000"/>
      <p:regular r:id="rId28"/>
    </p:embeddedFont>
    <p:embeddedFont>
      <p:font typeface="HK Grotesk Medium" charset="1" panose="00000600000000000000"/>
      <p:regular r:id="rId29"/>
    </p:embeddedFont>
    <p:embeddedFont>
      <p:font typeface="HK Grotesk Semi-Bold" charset="1" panose="0000070000000000000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font" Target="fonts/font21.fntdata"/><Relationship Id="rId22" Type="http://schemas.openxmlformats.org/officeDocument/2006/relationships/font" Target="fonts/font22.fntdata"/><Relationship Id="rId23" Type="http://schemas.openxmlformats.org/officeDocument/2006/relationships/font" Target="fonts/font23.fntdata"/><Relationship Id="rId24" Type="http://schemas.openxmlformats.org/officeDocument/2006/relationships/font" Target="fonts/font24.fntdata"/><Relationship Id="rId25" Type="http://schemas.openxmlformats.org/officeDocument/2006/relationships/font" Target="fonts/font25.fntdata"/><Relationship Id="rId26" Type="http://schemas.openxmlformats.org/officeDocument/2006/relationships/font" Target="fonts/font26.fntdata"/><Relationship Id="rId27" Type="http://schemas.openxmlformats.org/officeDocument/2006/relationships/font" Target="fonts/font27.fntdata"/><Relationship Id="rId28" Type="http://schemas.openxmlformats.org/officeDocument/2006/relationships/font" Target="fonts/font28.fntdata"/><Relationship Id="rId29" Type="http://schemas.openxmlformats.org/officeDocument/2006/relationships/font" Target="fonts/font29.fntdata"/><Relationship Id="rId30" Type="http://schemas.openxmlformats.org/officeDocument/2006/relationships/font" Target="fonts/font30.fntdata"/><Relationship Id="rId31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about our main contribution, keeping the user's own movement.</a:t>
            </a:r>
          </a:p>
          <a:p/>
          <a:p>
            <a:r>
              <a:t>If the spoon cancels everything, the person cannot move it. So we use a muscle signal to tell when the movement is on purpose.</a:t>
            </a:r>
          </a:p>
          <a:p/>
          <a:p>
            <a:r>
              <a:t>We ran the same controller with that signal turned off. The error was about 15 times higher.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shows our tremor results in simulation.</a:t>
            </a:r>
          </a:p>
          <a:p/>
          <a:p>
            <a:r>
              <a:t>On the synthetic tests we averaged 93 percent, and met our target in 15 of 16 cases.</a:t>
            </a:r>
          </a:p>
          <a:p/>
          <a:p>
            <a:r>
              <a:t>We then played back 60 real recordings from 14 patients. The average dropped to 87 percent, because real tremor is less steady than a sine wave.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covers what worked and what did not.</a:t>
            </a:r>
          </a:p>
          <a:p/>
          <a:p>
            <a:r>
              <a:t>We met the target in 15 of 16 cases, and all 17 automated checks passed.</a:t>
            </a:r>
          </a:p>
          <a:p/>
          <a:p>
            <a:r>
              <a:t>The weak point is fast movement. When the user reaches quickly, we are more than twice as bad.</a:t>
            </a:r>
          </a:p>
          <a:p/>
          <a:p>
            <a:r>
              <a:t>Our muscle signal is simulated, so the next step is to record a real person.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sv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2D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1239500" cy="10287000"/>
            <a:chOff x="0" y="0"/>
            <a:chExt cx="14986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98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4986000">
                  <a:moveTo>
                    <a:pt x="0" y="0"/>
                  </a:moveTo>
                  <a:lnTo>
                    <a:pt x="14986000" y="0"/>
                  </a:lnTo>
                  <a:lnTo>
                    <a:pt x="14986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72D38">
                <a:alpha val="9568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986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66800" y="4429125"/>
            <a:ext cx="857250" cy="66675"/>
            <a:chOff x="0" y="0"/>
            <a:chExt cx="1143000" cy="889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43000" cy="88900"/>
            </a:xfrm>
            <a:custGeom>
              <a:avLst/>
              <a:gdLst/>
              <a:ahLst/>
              <a:cxnLst/>
              <a:rect r="r" b="b" t="t" l="l"/>
              <a:pathLst>
                <a:path h="88900" w="1143000">
                  <a:moveTo>
                    <a:pt x="0" y="0"/>
                  </a:moveTo>
                  <a:lnTo>
                    <a:pt x="1143000" y="0"/>
                  </a:lnTo>
                  <a:lnTo>
                    <a:pt x="11430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CE742B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143000" cy="12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66800" y="742950"/>
            <a:ext cx="1619250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b="true" sz="1650" spc="132" strike="noStrike" u="none">
                <a:solidFill>
                  <a:srgbClr val="CE742B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GROUP 18 · MECHENG 736</a:t>
            </a:r>
          </a:p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b="true" sz="1650" spc="132" strike="noStrike" u="none">
                <a:solidFill>
                  <a:srgbClr val="CE742B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Aditya Naik · Kevin Mispa Anand · Suhas Panchal · Tom Liu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66800" y="1914525"/>
            <a:ext cx="9144000" cy="1305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02"/>
              </a:lnSpc>
            </a:pPr>
            <a:r>
              <a:rPr lang="en-US" sz="9900" b="true">
                <a:solidFill>
                  <a:srgbClr val="F5F4F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SensoSpoon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6800" y="3333750"/>
            <a:ext cx="723900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50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F5F4F0"/>
                </a:solidFill>
                <a:latin typeface="DM Sans"/>
                <a:ea typeface="DM Sans"/>
                <a:cs typeface="DM Sans"/>
                <a:sym typeface="DM Sans"/>
              </a:rPr>
              <a:t>Eating with hand tremor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66800" y="9448800"/>
            <a:ext cx="1615440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95"/>
              </a:lnSpc>
              <a:spcBef>
                <a:spcPct val="0"/>
              </a:spcBef>
            </a:pPr>
            <a:r>
              <a:rPr lang="en-US" b="true" sz="1425" spc="114" strike="noStrike" u="none">
                <a:solidFill>
                  <a:srgbClr val="F5F4F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GROUP 18 · Product design rendering · 1 / 14</a:t>
            </a:r>
          </a:p>
        </p:txBody>
      </p:sp>
      <p:sp>
        <p:nvSpPr>
          <p:cNvPr name="Freeform 12" id="12" descr="Final SensoSpoon product rendering, unchanged from Figure 3 of the report."/>
          <p:cNvSpPr/>
          <p:nvPr/>
        </p:nvSpPr>
        <p:spPr>
          <a:xfrm flipH="false" flipV="false" rot="0">
            <a:off x="10096500" y="3095625"/>
            <a:ext cx="7762875" cy="4333875"/>
          </a:xfrm>
          <a:custGeom>
            <a:avLst/>
            <a:gdLst/>
            <a:ahLst/>
            <a:cxnLst/>
            <a:rect r="r" b="b" t="t" l="l"/>
            <a:pathLst>
              <a:path h="4333875" w="7762875">
                <a:moveTo>
                  <a:pt x="0" y="0"/>
                </a:moveTo>
                <a:lnTo>
                  <a:pt x="7762875" y="0"/>
                </a:lnTo>
                <a:lnTo>
                  <a:pt x="7762875" y="4333875"/>
                </a:lnTo>
                <a:lnTo>
                  <a:pt x="0" y="43338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6" t="0" r="-56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66800" y="952500"/>
            <a:ext cx="16154400" cy="606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4500" spc="-89" b="true">
                <a:solidFill>
                  <a:srgbClr val="19323D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Background: When Tremor Disrupts Eating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08176" y="1957292"/>
            <a:ext cx="4352544" cy="300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21"/>
              </a:lnSpc>
            </a:pPr>
            <a:r>
              <a:rPr lang="en-US" sz="22521" spc="-450" b="true">
                <a:solidFill>
                  <a:srgbClr val="ED712E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8.5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36192" y="4453210"/>
            <a:ext cx="4041648" cy="1121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9"/>
              </a:lnSpc>
            </a:pPr>
            <a:r>
              <a:rPr lang="en-US" sz="8409" spc="-168" b="true">
                <a:solidFill>
                  <a:srgbClr val="ED712E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million+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17904" y="5608303"/>
            <a:ext cx="5852160" cy="904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6"/>
              </a:lnSpc>
            </a:pPr>
            <a:r>
              <a:rPr lang="en-US" sz="2723" b="true">
                <a:solidFill>
                  <a:srgbClr val="1E3653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People living with Parkinson disease worldwide in 2019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674352" y="2681964"/>
            <a:ext cx="7022592" cy="525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6"/>
              </a:lnSpc>
            </a:pPr>
            <a:r>
              <a:rPr lang="en-US" sz="3936" spc="-78" b="true">
                <a:solidFill>
                  <a:srgbClr val="1E3653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 daily task becomes difficult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674352" y="3647939"/>
            <a:ext cx="6876288" cy="169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5"/>
              </a:lnSpc>
            </a:pPr>
            <a:r>
              <a:rPr lang="en-US" sz="3232">
                <a:solidFill>
                  <a:srgbClr val="1E3653"/>
                </a:solidFill>
                <a:latin typeface="HK Grotesk"/>
                <a:ea typeface="HK Grotesk"/>
                <a:cs typeface="HK Grotesk"/>
                <a:sym typeface="HK Grotesk"/>
              </a:rPr>
              <a:t>Hand tremor can interrupt carrying food to the mouth, even when a person can still grip a spoon.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674352" y="6145031"/>
            <a:ext cx="5010912" cy="355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2"/>
              </a:lnSpc>
            </a:pPr>
            <a:r>
              <a:rPr lang="en-US" sz="2130" b="true">
                <a:solidFill>
                  <a:srgbClr val="1E3653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(Mo &amp; Priefer, 2021; Pathak et al., 2014)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426574" y="7707051"/>
            <a:ext cx="16997340" cy="229572"/>
          </a:xfrm>
          <a:custGeom>
            <a:avLst/>
            <a:gdLst/>
            <a:ahLst/>
            <a:cxnLst/>
            <a:rect r="r" b="b" t="t" l="l"/>
            <a:pathLst>
              <a:path h="229572" w="16997340">
                <a:moveTo>
                  <a:pt x="0" y="0"/>
                </a:moveTo>
                <a:lnTo>
                  <a:pt x="16997340" y="0"/>
                </a:lnTo>
                <a:lnTo>
                  <a:pt x="16997340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834640" y="8208071"/>
            <a:ext cx="12545568" cy="429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2"/>
              </a:lnSpc>
            </a:pPr>
            <a:r>
              <a:rPr lang="en-US" b="true" sz="3232" spc="-64">
                <a:solidFill>
                  <a:srgbClr val="1E3653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Design need: steady the utensil while allowing natural movement.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712464" y="8846316"/>
            <a:ext cx="10643616" cy="377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3"/>
              </a:lnSpc>
            </a:pPr>
            <a:r>
              <a:rPr lang="en-US" sz="2893" i="true">
                <a:solidFill>
                  <a:srgbClr val="1E3653"/>
                </a:solidFill>
                <a:latin typeface="HK Grotesk Italics"/>
                <a:ea typeface="HK Grotesk Italics"/>
                <a:cs typeface="HK Grotesk Italics"/>
                <a:sym typeface="HK Grotesk Italics"/>
              </a:rPr>
              <a:t>Population context, not an estimate of demand for SensoSpoon.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051024" y="9527277"/>
            <a:ext cx="2322576" cy="318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99"/>
              </a:lnSpc>
              <a:spcBef>
                <a:spcPct val="0"/>
              </a:spcBef>
            </a:pPr>
            <a:r>
              <a:rPr lang="en-US" sz="1857" strike="noStrike" u="none">
                <a:solidFill>
                  <a:srgbClr val="1E3653"/>
                </a:solidFill>
                <a:latin typeface="HK Grotesk"/>
                <a:ea typeface="HK Grotesk"/>
                <a:cs typeface="HK Grotesk"/>
                <a:sym typeface="HK Grotesk"/>
              </a:rPr>
              <a:t>GROUP 18 · 2 / 14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17904" y="6760195"/>
            <a:ext cx="4279392" cy="348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30">
                <a:solidFill>
                  <a:srgbClr val="1E3653"/>
                </a:solidFill>
                <a:latin typeface="HK Grotesk"/>
                <a:ea typeface="HK Grotesk"/>
                <a:cs typeface="HK Grotesk"/>
                <a:sym typeface="HK Grotesk"/>
              </a:rPr>
              <a:t>(World Health Organization, 2023)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6800" y="552450"/>
            <a:ext cx="12858750" cy="1048512"/>
            <a:chOff x="0" y="0"/>
            <a:chExt cx="17145000" cy="1398016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1143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100"/>
                </a:lnSpc>
                <a:spcBef>
                  <a:spcPct val="0"/>
                </a:spcBef>
              </a:pPr>
              <a:r>
                <a:rPr lang="en-US" b="true" sz="1500" spc="120" strike="noStrike" u="none">
                  <a:solidFill>
                    <a:srgbClr val="CE742B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03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536575"/>
              <a:ext cx="17145000" cy="8614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704"/>
                </a:lnSpc>
                <a:spcBef>
                  <a:spcPct val="0"/>
                </a:spcBef>
              </a:pPr>
              <a:r>
                <a:rPr lang="en-US" b="true" sz="4800" strike="noStrike" u="none">
                  <a:solidFill>
                    <a:srgbClr val="172D3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Evidence, User Needs and the Gap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858500" y="2524125"/>
            <a:ext cx="6362700" cy="6191250"/>
            <a:chOff x="0" y="0"/>
            <a:chExt cx="8483600" cy="8255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483600" cy="8255000"/>
            </a:xfrm>
            <a:custGeom>
              <a:avLst/>
              <a:gdLst/>
              <a:ahLst/>
              <a:cxnLst/>
              <a:rect r="r" b="b" t="t" l="l"/>
              <a:pathLst>
                <a:path h="8255000" w="8483600">
                  <a:moveTo>
                    <a:pt x="0" y="0"/>
                  </a:moveTo>
                  <a:lnTo>
                    <a:pt x="8483600" y="0"/>
                  </a:lnTo>
                  <a:lnTo>
                    <a:pt x="8483600" y="8255000"/>
                  </a:lnTo>
                  <a:lnTo>
                    <a:pt x="0" y="8255000"/>
                  </a:lnTo>
                  <a:close/>
                </a:path>
              </a:pathLst>
            </a:custGeom>
            <a:solidFill>
              <a:srgbClr val="E3E1DA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483600" cy="829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66800" y="2609850"/>
            <a:ext cx="9048750" cy="395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8"/>
              </a:lnSpc>
              <a:spcBef>
                <a:spcPct val="0"/>
              </a:spcBef>
            </a:pPr>
            <a:r>
              <a:rPr lang="en-US" b="true" sz="2850" strike="noStrike" u="none">
                <a:solidFill>
                  <a:srgbClr val="172D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What the literature shows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66800" y="3200400"/>
            <a:ext cx="9048750" cy="2502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27"/>
              </a:lnSpc>
              <a:spcBef>
                <a:spcPct val="0"/>
              </a:spcBef>
            </a:pPr>
            <a:r>
              <a:rPr lang="en-US" sz="2025" spc="162" strike="noStrike" u="none">
                <a:solidFill>
                  <a:srgbClr val="19323D"/>
                </a:solidFill>
                <a:latin typeface="IBM Plex Mono"/>
                <a:ea typeface="IBM Plex Mono"/>
                <a:cs typeface="IBM Plex Mono"/>
                <a:sym typeface="IBM Plex Mono"/>
              </a:rPr>
              <a:t>Active stabilisation improved feeding tasks</a:t>
            </a:r>
          </a:p>
          <a:p>
            <a:pPr algn="l" marL="0" indent="0" lvl="0">
              <a:lnSpc>
                <a:spcPts val="2227"/>
              </a:lnSpc>
              <a:spcBef>
                <a:spcPct val="0"/>
              </a:spcBef>
            </a:pPr>
            <a:r>
              <a:rPr lang="en-US" sz="2025" spc="162" strike="noStrike" u="none">
                <a:solidFill>
                  <a:srgbClr val="19323D"/>
                </a:solidFill>
                <a:latin typeface="IBM Plex Mono"/>
                <a:ea typeface="IBM Plex Mono"/>
                <a:cs typeface="IBM Plex Mono"/>
                <a:sym typeface="IBM Plex Mono"/>
              </a:rPr>
              <a:t>(Pathak et al., 2014).</a:t>
            </a:r>
          </a:p>
          <a:p>
            <a:pPr algn="l" marL="0" indent="0" lvl="0">
              <a:lnSpc>
                <a:spcPts val="2227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227"/>
              </a:lnSpc>
              <a:spcBef>
                <a:spcPct val="0"/>
              </a:spcBef>
            </a:pPr>
            <a:r>
              <a:rPr lang="en-US" sz="2025" spc="162" strike="noStrike" u="none">
                <a:solidFill>
                  <a:srgbClr val="19323D"/>
                </a:solidFill>
                <a:latin typeface="IBM Plex Mono"/>
                <a:ea typeface="IBM Plex Mono"/>
                <a:cs typeface="IBM Plex Mono"/>
                <a:sym typeface="IBM Plex Mono"/>
              </a:rPr>
              <a:t>Two-axis control reduced tremor in simulation</a:t>
            </a:r>
          </a:p>
          <a:p>
            <a:pPr algn="l" marL="0" indent="0" lvl="0">
              <a:lnSpc>
                <a:spcPts val="2227"/>
              </a:lnSpc>
              <a:spcBef>
                <a:spcPct val="0"/>
              </a:spcBef>
            </a:pPr>
            <a:r>
              <a:rPr lang="en-US" sz="2025" spc="162" strike="noStrike" u="none">
                <a:solidFill>
                  <a:srgbClr val="19323D"/>
                </a:solidFill>
                <a:latin typeface="IBM Plex Mono"/>
                <a:ea typeface="IBM Plex Mono"/>
                <a:cs typeface="IBM Plex Mono"/>
                <a:sym typeface="IBM Plex Mono"/>
              </a:rPr>
              <a:t>(Taşar et al., 2023).</a:t>
            </a:r>
          </a:p>
          <a:p>
            <a:pPr algn="l" marL="0" indent="0" lvl="0">
              <a:lnSpc>
                <a:spcPts val="2227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227"/>
              </a:lnSpc>
              <a:spcBef>
                <a:spcPct val="0"/>
              </a:spcBef>
            </a:pPr>
            <a:r>
              <a:rPr lang="en-US" sz="2025" spc="162" strike="noStrike" u="none">
                <a:solidFill>
                  <a:srgbClr val="19323D"/>
                </a:solidFill>
                <a:latin typeface="IBM Plex Mono"/>
                <a:ea typeface="IBM Plex Mono"/>
                <a:cs typeface="IBM Plex Mono"/>
                <a:sym typeface="IBM Plex Mono"/>
              </a:rPr>
              <a:t>Orthoses combined suppression and voluntary tracking</a:t>
            </a:r>
          </a:p>
          <a:p>
            <a:pPr algn="l" marL="0" indent="0" lvl="0">
              <a:lnSpc>
                <a:spcPts val="2227"/>
              </a:lnSpc>
              <a:spcBef>
                <a:spcPct val="0"/>
              </a:spcBef>
            </a:pPr>
            <a:r>
              <a:rPr lang="en-US" sz="2025" spc="162" strike="noStrike" u="none">
                <a:solidFill>
                  <a:srgbClr val="19323D"/>
                </a:solidFill>
                <a:latin typeface="IBM Plex Mono"/>
                <a:ea typeface="IBM Plex Mono"/>
                <a:cs typeface="IBM Plex Mono"/>
                <a:sym typeface="IBM Plex Mono"/>
              </a:rPr>
              <a:t>(Herrnstadt &amp; Menon, 2016).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6800" y="6677025"/>
            <a:ext cx="66675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 spc="144" strike="noStrike" u="none">
                <a:solidFill>
                  <a:srgbClr val="D47723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WHAT THIS MEANS FOR SENSOSPOON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66800" y="7210425"/>
            <a:ext cx="9525000" cy="1024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60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172D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Combine muscle cues with motion sensing.</a:t>
            </a:r>
          </a:p>
          <a:p>
            <a:pPr algn="l" marL="0" indent="0" lvl="0">
              <a:lnSpc>
                <a:spcPts val="2760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172D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Test tremor rejection and voluntary tracking</a:t>
            </a:r>
          </a:p>
          <a:p>
            <a:pPr algn="l" marL="0" indent="0" lvl="0">
              <a:lnSpc>
                <a:spcPts val="2760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172D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under the same conditions.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334750" y="3009900"/>
            <a:ext cx="5286375" cy="328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99"/>
              </a:lnSpc>
              <a:spcBef>
                <a:spcPct val="0"/>
              </a:spcBef>
            </a:pPr>
            <a:r>
              <a:rPr lang="en-US" b="true" sz="2550" strike="noStrike" u="none">
                <a:solidFill>
                  <a:srgbClr val="19323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One end-user interview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334750" y="3648075"/>
            <a:ext cx="5286375" cy="1766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12"/>
              </a:lnSpc>
              <a:spcBef>
                <a:spcPct val="0"/>
              </a:spcBef>
            </a:pPr>
            <a:r>
              <a:rPr lang="en-US" sz="2250" strike="noStrike" u="none">
                <a:solidFill>
                  <a:srgbClr val="243943"/>
                </a:solidFill>
                <a:latin typeface="DM Sans"/>
                <a:ea typeface="DM Sans"/>
                <a:cs typeface="DM Sans"/>
                <a:sym typeface="DM Sans"/>
              </a:rPr>
              <a:t>Tight gripping was the only coping strategy.</a:t>
            </a:r>
          </a:p>
          <a:p>
            <a:pPr algn="ctr" marL="0" indent="0" lvl="0">
              <a:lnSpc>
                <a:spcPts val="2812"/>
              </a:lnSpc>
              <a:spcBef>
                <a:spcPct val="0"/>
              </a:spcBef>
            </a:pPr>
            <a:r>
              <a:rPr lang="en-US" sz="2250" strike="noStrike" u="none">
                <a:solidFill>
                  <a:srgbClr val="243943"/>
                </a:solidFill>
                <a:latin typeface="DM Sans"/>
                <a:ea typeface="DM Sans"/>
                <a:cs typeface="DM Sans"/>
                <a:sym typeface="DM Sans"/>
              </a:rPr>
              <a:t>Unrestricted movement was “extremely important.”</a:t>
            </a:r>
          </a:p>
          <a:p>
            <a:pPr algn="ctr" marL="0" indent="0" lvl="0">
              <a:lnSpc>
                <a:spcPts val="2812"/>
              </a:lnSpc>
              <a:spcBef>
                <a:spcPct val="0"/>
              </a:spcBef>
            </a:pPr>
            <a:r>
              <a:rPr lang="en-US" sz="2250" strike="noStrike" u="none">
                <a:solidFill>
                  <a:srgbClr val="243943"/>
                </a:solidFill>
                <a:latin typeface="DM Sans"/>
                <a:ea typeface="DM Sans"/>
                <a:cs typeface="DM Sans"/>
                <a:sym typeface="DM Sans"/>
              </a:rPr>
              <a:t>Bulk, weight and cost could deter use.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1334750" y="6429375"/>
            <a:ext cx="5286375" cy="28575"/>
            <a:chOff x="0" y="0"/>
            <a:chExt cx="7048500" cy="381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048500" cy="38100"/>
            </a:xfrm>
            <a:custGeom>
              <a:avLst/>
              <a:gdLst/>
              <a:ahLst/>
              <a:cxnLst/>
              <a:rect r="r" b="b" t="t" l="l"/>
              <a:pathLst>
                <a:path h="38100" w="7048500">
                  <a:moveTo>
                    <a:pt x="0" y="0"/>
                  </a:moveTo>
                  <a:lnTo>
                    <a:pt x="7048500" y="0"/>
                  </a:lnTo>
                  <a:lnTo>
                    <a:pt x="70485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E742B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70485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1334750" y="6753225"/>
            <a:ext cx="5286375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10"/>
              </a:lnSpc>
              <a:spcBef>
                <a:spcPct val="0"/>
              </a:spcBef>
            </a:pPr>
            <a:r>
              <a:rPr lang="en-US" sz="2175" strike="noStrike" u="none">
                <a:solidFill>
                  <a:srgbClr val="243943"/>
                </a:solidFill>
                <a:latin typeface="DM Sans"/>
                <a:ea typeface="DM Sans"/>
                <a:cs typeface="DM Sans"/>
                <a:sym typeface="DM Sans"/>
              </a:rPr>
              <a:t>DESIGN TARGET</a:t>
            </a:r>
          </a:p>
          <a:p>
            <a:pPr algn="ctr" marL="0" indent="0" lvl="0">
              <a:lnSpc>
                <a:spcPts val="2610"/>
              </a:lnSpc>
              <a:spcBef>
                <a:spcPct val="0"/>
              </a:spcBef>
            </a:pPr>
            <a:r>
              <a:rPr lang="en-US" sz="2175" strike="noStrike" u="none">
                <a:solidFill>
                  <a:srgbClr val="243943"/>
                </a:solidFill>
                <a:latin typeface="DM Sans"/>
                <a:ea typeface="DM Sans"/>
                <a:cs typeface="DM Sans"/>
                <a:sym typeface="DM Sans"/>
              </a:rPr>
              <a:t>≥90% attitude RMS reduction</a:t>
            </a:r>
          </a:p>
          <a:p>
            <a:pPr algn="ctr" marL="0" indent="0" lvl="0">
              <a:lnSpc>
                <a:spcPts val="2610"/>
              </a:lnSpc>
              <a:spcBef>
                <a:spcPct val="0"/>
              </a:spcBef>
            </a:pPr>
            <a:r>
              <a:rPr lang="en-US" sz="2175" strike="noStrike" u="none">
                <a:solidFill>
                  <a:srgbClr val="243943"/>
                </a:solidFill>
                <a:latin typeface="DM Sans"/>
                <a:ea typeface="DM Sans"/>
                <a:cs typeface="DM Sans"/>
                <a:sym typeface="DM Sans"/>
              </a:rPr>
              <a:t>+ low voluntary tracking error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66800" y="9705975"/>
            <a:ext cx="161544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89"/>
              </a:lnSpc>
              <a:spcBef>
                <a:spcPct val="0"/>
              </a:spcBef>
            </a:pPr>
            <a:r>
              <a:rPr lang="en-US" sz="1350" spc="54" strike="noStrike" u="none">
                <a:solidFill>
                  <a:srgbClr val="61717A"/>
                </a:solidFill>
                <a:latin typeface="IBM Plex Mono"/>
                <a:ea typeface="IBM Plex Mono"/>
                <a:cs typeface="IBM Plex Mono"/>
                <a:sym typeface="IBM Plex Mono"/>
              </a:rPr>
              <a:t>GROUP 18 · Team interview and design requirements. Target applies to feasible test conditions. · 3 / 14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6800" y="552450"/>
            <a:ext cx="16154400" cy="1048512"/>
            <a:chOff x="0" y="0"/>
            <a:chExt cx="21539200" cy="1398016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1143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100"/>
                </a:lnSpc>
                <a:spcBef>
                  <a:spcPct val="0"/>
                </a:spcBef>
              </a:pPr>
              <a:r>
                <a:rPr lang="en-US" b="true" sz="1500" spc="120" strike="noStrike" u="none">
                  <a:solidFill>
                    <a:srgbClr val="CE742B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04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536575"/>
              <a:ext cx="21539200" cy="8614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704"/>
                </a:lnSpc>
                <a:spcBef>
                  <a:spcPct val="0"/>
                </a:spcBef>
              </a:pPr>
              <a:r>
                <a:rPr lang="en-US" b="true" sz="4800" strike="noStrike" u="none">
                  <a:solidFill>
                    <a:srgbClr val="172D3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Conceptual Design: Spoon + Cuff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66800" y="1924050"/>
            <a:ext cx="1476375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89"/>
              </a:lnSpc>
              <a:spcBef>
                <a:spcPct val="0"/>
              </a:spcBef>
            </a:pPr>
            <a:r>
              <a:rPr lang="en-US" b="true" sz="1350" spc="108" strike="noStrike" u="none">
                <a:solidFill>
                  <a:srgbClr val="CE742B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INITIAL TEAM CONCEPT · COMPLEMENTARY MUSCLE AND MOTION SENSING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38250" y="3524250"/>
            <a:ext cx="3429000" cy="2000250"/>
            <a:chOff x="0" y="0"/>
            <a:chExt cx="4572000" cy="2667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5720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4572000">
                  <a:moveTo>
                    <a:pt x="49389" y="0"/>
                  </a:moveTo>
                  <a:lnTo>
                    <a:pt x="4522611" y="0"/>
                  </a:lnTo>
                  <a:cubicBezTo>
                    <a:pt x="4549888" y="0"/>
                    <a:pt x="4572000" y="22112"/>
                    <a:pt x="4572000" y="49389"/>
                  </a:cubicBezTo>
                  <a:lnTo>
                    <a:pt x="4572000" y="2617611"/>
                  </a:lnTo>
                  <a:cubicBezTo>
                    <a:pt x="4572000" y="2644888"/>
                    <a:pt x="4549888" y="2667000"/>
                    <a:pt x="4522611" y="2667000"/>
                  </a:cubicBezTo>
                  <a:lnTo>
                    <a:pt x="49389" y="2667000"/>
                  </a:lnTo>
                  <a:cubicBezTo>
                    <a:pt x="22112" y="2667000"/>
                    <a:pt x="0" y="2644888"/>
                    <a:pt x="0" y="2617611"/>
                  </a:cubicBezTo>
                  <a:lnTo>
                    <a:pt x="0" y="49389"/>
                  </a:lnTo>
                  <a:cubicBezTo>
                    <a:pt x="0" y="22112"/>
                    <a:pt x="22112" y="0"/>
                    <a:pt x="49389" y="0"/>
                  </a:cubicBezTo>
                  <a:close/>
                </a:path>
              </a:pathLst>
            </a:custGeom>
            <a:solidFill>
              <a:srgbClr val="172D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4572000" cy="266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01"/>
                </a:lnSpc>
                <a:spcBef>
                  <a:spcPct val="0"/>
                </a:spcBef>
              </a:pPr>
              <a:r>
                <a:rPr lang="en-US" b="true" sz="2175" strike="noStrike" u="none">
                  <a:solidFill>
                    <a:srgbClr val="F5F4F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FOREARM CUFF</a:t>
              </a:r>
            </a:p>
            <a:p>
              <a:pPr algn="ctr" marL="0" indent="0" lvl="0">
                <a:lnSpc>
                  <a:spcPts val="2501"/>
                </a:lnSpc>
                <a:spcBef>
                  <a:spcPct val="0"/>
                </a:spcBef>
              </a:pPr>
              <a:r>
                <a:rPr lang="en-US" b="true" sz="2175" strike="noStrike" u="none">
                  <a:solidFill>
                    <a:srgbClr val="F5F4F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Muscle activation</a:t>
              </a:r>
            </a:p>
            <a:p>
              <a:pPr algn="ctr" marL="0" indent="0" lvl="0">
                <a:lnSpc>
                  <a:spcPts val="2501"/>
                </a:lnSpc>
                <a:spcBef>
                  <a:spcPct val="0"/>
                </a:spcBef>
              </a:pPr>
              <a:r>
                <a:rPr lang="en-US" b="true" sz="2175" strike="noStrike" u="none">
                  <a:solidFill>
                    <a:srgbClr val="F5F4F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Cue to user intent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191250" y="3905250"/>
            <a:ext cx="2571750" cy="1238250"/>
            <a:chOff x="0" y="0"/>
            <a:chExt cx="3429000" cy="1651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429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3429000">
                  <a:moveTo>
                    <a:pt x="65852" y="0"/>
                  </a:moveTo>
                  <a:lnTo>
                    <a:pt x="3363148" y="0"/>
                  </a:lnTo>
                  <a:cubicBezTo>
                    <a:pt x="3399517" y="0"/>
                    <a:pt x="3429000" y="29483"/>
                    <a:pt x="3429000" y="65852"/>
                  </a:cubicBezTo>
                  <a:lnTo>
                    <a:pt x="3429000" y="1585148"/>
                  </a:lnTo>
                  <a:cubicBezTo>
                    <a:pt x="3429000" y="1621517"/>
                    <a:pt x="3399517" y="1651000"/>
                    <a:pt x="3363148" y="1651000"/>
                  </a:cubicBezTo>
                  <a:lnTo>
                    <a:pt x="65852" y="1651000"/>
                  </a:lnTo>
                  <a:cubicBezTo>
                    <a:pt x="29483" y="1651000"/>
                    <a:pt x="0" y="1621517"/>
                    <a:pt x="0" y="1585148"/>
                  </a:cubicBezTo>
                  <a:lnTo>
                    <a:pt x="0" y="65852"/>
                  </a:lnTo>
                  <a:cubicBezTo>
                    <a:pt x="0" y="29483"/>
                    <a:pt x="29483" y="0"/>
                    <a:pt x="65852" y="0"/>
                  </a:cubicBezTo>
                  <a:close/>
                </a:path>
              </a:pathLst>
            </a:custGeom>
            <a:solidFill>
              <a:srgbClr val="E3E1D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3429000" cy="1651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15"/>
                </a:lnSpc>
                <a:spcBef>
                  <a:spcPct val="0"/>
                </a:spcBef>
              </a:pPr>
              <a:r>
                <a:rPr lang="en-US" b="true" sz="2100" strike="noStrike" u="none">
                  <a:solidFill>
                    <a:srgbClr val="172D3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BLE</a:t>
              </a:r>
            </a:p>
            <a:p>
              <a:pPr algn="ctr" marL="0" indent="0" lvl="0">
                <a:lnSpc>
                  <a:spcPts val="2415"/>
                </a:lnSpc>
                <a:spcBef>
                  <a:spcPct val="0"/>
                </a:spcBef>
              </a:pPr>
              <a:r>
                <a:rPr lang="en-US" b="true" sz="2100" strike="noStrike" u="none">
                  <a:solidFill>
                    <a:srgbClr val="172D3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Wireless features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382250" y="3143250"/>
            <a:ext cx="6191250" cy="2857500"/>
            <a:chOff x="0" y="0"/>
            <a:chExt cx="8255000" cy="381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255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8255000">
                  <a:moveTo>
                    <a:pt x="27354" y="0"/>
                  </a:moveTo>
                  <a:lnTo>
                    <a:pt x="8227646" y="0"/>
                  </a:lnTo>
                  <a:cubicBezTo>
                    <a:pt x="8234901" y="0"/>
                    <a:pt x="8241858" y="2882"/>
                    <a:pt x="8246988" y="8012"/>
                  </a:cubicBezTo>
                  <a:cubicBezTo>
                    <a:pt x="8252118" y="13142"/>
                    <a:pt x="8255000" y="20099"/>
                    <a:pt x="8255000" y="27354"/>
                  </a:cubicBezTo>
                  <a:lnTo>
                    <a:pt x="8255000" y="3782646"/>
                  </a:lnTo>
                  <a:cubicBezTo>
                    <a:pt x="8255000" y="3789901"/>
                    <a:pt x="8252118" y="3796859"/>
                    <a:pt x="8246988" y="3801988"/>
                  </a:cubicBezTo>
                  <a:cubicBezTo>
                    <a:pt x="8241858" y="3807118"/>
                    <a:pt x="8234901" y="3810000"/>
                    <a:pt x="8227646" y="3810000"/>
                  </a:cubicBezTo>
                  <a:lnTo>
                    <a:pt x="27354" y="3810000"/>
                  </a:lnTo>
                  <a:cubicBezTo>
                    <a:pt x="20099" y="3810000"/>
                    <a:pt x="13142" y="3807118"/>
                    <a:pt x="8012" y="3801988"/>
                  </a:cubicBezTo>
                  <a:cubicBezTo>
                    <a:pt x="2882" y="3796859"/>
                    <a:pt x="0" y="3789901"/>
                    <a:pt x="0" y="3782646"/>
                  </a:cubicBezTo>
                  <a:lnTo>
                    <a:pt x="0" y="27354"/>
                  </a:lnTo>
                  <a:cubicBezTo>
                    <a:pt x="0" y="20099"/>
                    <a:pt x="2882" y="13142"/>
                    <a:pt x="8012" y="8012"/>
                  </a:cubicBezTo>
                  <a:cubicBezTo>
                    <a:pt x="13142" y="2882"/>
                    <a:pt x="20099" y="0"/>
                    <a:pt x="27354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9525"/>
              <a:ext cx="8255000" cy="3800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60"/>
                </a:lnSpc>
                <a:spcBef>
                  <a:spcPct val="0"/>
                </a:spcBef>
              </a:pPr>
              <a:r>
                <a:rPr lang="en-US" b="true" sz="2400" strike="noStrike" u="none">
                  <a:solidFill>
                    <a:srgbClr val="172D3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ACTIVE SPOON</a:t>
              </a:r>
            </a:p>
            <a:p>
              <a:pPr algn="ctr" marL="0" indent="0" lvl="0">
                <a:lnSpc>
                  <a:spcPts val="2760"/>
                </a:lnSpc>
                <a:spcBef>
                  <a:spcPct val="0"/>
                </a:spcBef>
              </a:pPr>
              <a:r>
                <a:rPr lang="en-US" b="true" sz="2400" strike="noStrike" u="none">
                  <a:solidFill>
                    <a:srgbClr val="172D3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IMUs measure motion</a:t>
              </a:r>
            </a:p>
            <a:p>
              <a:pPr algn="ctr" marL="0" indent="0" lvl="0">
                <a:lnSpc>
                  <a:spcPts val="2760"/>
                </a:lnSpc>
                <a:spcBef>
                  <a:spcPct val="0"/>
                </a:spcBef>
              </a:pPr>
              <a:r>
                <a:rPr lang="en-US" b="true" sz="2400" strike="noStrike" u="none">
                  <a:solidFill>
                    <a:srgbClr val="172D3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Pitch + roll correct rotation</a:t>
              </a:r>
            </a:p>
            <a:p>
              <a:pPr algn="ctr" marL="0" indent="0" lvl="0">
                <a:lnSpc>
                  <a:spcPts val="2760"/>
                </a:lnSpc>
                <a:spcBef>
                  <a:spcPct val="0"/>
                </a:spcBef>
              </a:pPr>
              <a:r>
                <a:rPr lang="en-US" b="true" sz="2400" strike="noStrike" u="none">
                  <a:solidFill>
                    <a:srgbClr val="172D3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Detachable head for cleaning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>
            <a:off x="4667250" y="4524375"/>
            <a:ext cx="1524000" cy="0"/>
          </a:xfrm>
          <a:prstGeom prst="line">
            <a:avLst/>
          </a:prstGeom>
          <a:ln cap="rnd" w="38100">
            <a:solidFill>
              <a:srgbClr val="CE742B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6" id="16"/>
          <p:cNvSpPr/>
          <p:nvPr/>
        </p:nvSpPr>
        <p:spPr>
          <a:xfrm>
            <a:off x="8763000" y="4524375"/>
            <a:ext cx="1619250" cy="0"/>
          </a:xfrm>
          <a:prstGeom prst="line">
            <a:avLst/>
          </a:prstGeom>
          <a:ln cap="rnd" w="38100">
            <a:solidFill>
              <a:srgbClr val="CE742B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7" id="17"/>
          <p:cNvSpPr/>
          <p:nvPr/>
        </p:nvSpPr>
        <p:spPr>
          <a:xfrm>
            <a:off x="2857500" y="6953250"/>
            <a:ext cx="12192000" cy="0"/>
          </a:xfrm>
          <a:prstGeom prst="line">
            <a:avLst/>
          </a:prstGeom>
          <a:ln cap="rnd" w="28575">
            <a:solidFill>
              <a:srgbClr val="61717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8" id="18"/>
          <p:cNvSpPr txBox="true"/>
          <p:nvPr/>
        </p:nvSpPr>
        <p:spPr>
          <a:xfrm rot="0">
            <a:off x="1428750" y="6438900"/>
            <a:ext cx="1476375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49"/>
              </a:lnSpc>
              <a:spcBef>
                <a:spcPct val="0"/>
              </a:spcBef>
            </a:pPr>
            <a:r>
              <a:rPr lang="en-US" sz="2250" strike="noStrike" u="none">
                <a:solidFill>
                  <a:srgbClr val="61717A"/>
                </a:solidFill>
                <a:latin typeface="IBM Plex Mono"/>
                <a:ea typeface="IBM Plex Mono"/>
                <a:cs typeface="IBM Plex Mono"/>
                <a:sym typeface="IBM Plex Mono"/>
              </a:rPr>
              <a:t>Correct at the utensil, leaving the arm free.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66800" y="7600950"/>
            <a:ext cx="16154400" cy="1033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18"/>
              </a:lnSpc>
              <a:spcBef>
                <a:spcPct val="0"/>
              </a:spcBef>
            </a:pPr>
            <a:r>
              <a:rPr lang="en-US" sz="2175" strike="noStrike" u="none">
                <a:solidFill>
                  <a:srgbClr val="243943"/>
                </a:solidFill>
                <a:latin typeface="DM Sans"/>
                <a:ea typeface="DM Sans"/>
                <a:cs typeface="DM Sans"/>
                <a:sym typeface="DM Sans"/>
              </a:rPr>
              <a:t>Voice coils + flexures: low moving mass and no geared backlash.</a:t>
            </a:r>
          </a:p>
          <a:p>
            <a:pPr algn="l" marL="0" indent="0" lvl="0">
              <a:lnSpc>
                <a:spcPts val="2718"/>
              </a:lnSpc>
              <a:spcBef>
                <a:spcPct val="0"/>
              </a:spcBef>
            </a:pPr>
            <a:r>
              <a:rPr lang="en-US" sz="2175" strike="noStrike" u="none">
                <a:solidFill>
                  <a:srgbClr val="243943"/>
                </a:solidFill>
                <a:latin typeface="DM Sans"/>
                <a:ea typeface="DM Sans"/>
                <a:cs typeface="DM Sans"/>
                <a:sym typeface="DM Sans"/>
              </a:rPr>
              <a:t>Wireless cuff: intent cues without a cable; fitting and calibration required.</a:t>
            </a:r>
          </a:p>
          <a:p>
            <a:pPr algn="l" marL="0" indent="0" lvl="0">
              <a:lnSpc>
                <a:spcPts val="2718"/>
              </a:lnSpc>
              <a:spcBef>
                <a:spcPct val="0"/>
              </a:spcBef>
            </a:pPr>
            <a:r>
              <a:rPr lang="en-US" sz="2175" strike="noStrike" u="none">
                <a:solidFill>
                  <a:srgbClr val="243943"/>
                </a:solidFill>
                <a:latin typeface="DM Sans"/>
                <a:ea typeface="DM Sans"/>
                <a:cs typeface="DM Sans"/>
                <a:sym typeface="DM Sans"/>
              </a:rPr>
              <a:t>Two axes keep the mechanism compact; the user controls translation.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66800" y="9705975"/>
            <a:ext cx="161544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89"/>
              </a:lnSpc>
              <a:spcBef>
                <a:spcPct val="0"/>
              </a:spcBef>
            </a:pPr>
            <a:r>
              <a:rPr lang="en-US" sz="1350" spc="54" strike="noStrike" u="none">
                <a:solidFill>
                  <a:srgbClr val="61717A"/>
                </a:solidFill>
                <a:latin typeface="IBM Plex Mono"/>
                <a:ea typeface="IBM Plex Mono"/>
                <a:cs typeface="IBM Plex Mono"/>
                <a:sym typeface="IBM Plex Mono"/>
              </a:rPr>
              <a:t>GROUP 18 · Team conceptual design · 4 / 14</a:t>
            </a:r>
          </a:p>
        </p:txBody>
      </p:sp>
      <p:sp>
        <p:nvSpPr>
          <p:cNvPr name="Freeform 21" id="21" descr="Initial spoon and forearm cuff concept, reproduced from Figure 1 of the team's final report."/>
          <p:cNvSpPr/>
          <p:nvPr/>
        </p:nvSpPr>
        <p:spPr>
          <a:xfrm flipH="false" flipV="false" rot="0">
            <a:off x="10462236" y="1744194"/>
            <a:ext cx="7143750" cy="4486275"/>
          </a:xfrm>
          <a:custGeom>
            <a:avLst/>
            <a:gdLst/>
            <a:ahLst/>
            <a:cxnLst/>
            <a:rect r="r" b="b" t="t" l="l"/>
            <a:pathLst>
              <a:path h="4486275" w="7143750">
                <a:moveTo>
                  <a:pt x="0" y="0"/>
                </a:moveTo>
                <a:lnTo>
                  <a:pt x="7143750" y="0"/>
                </a:lnTo>
                <a:lnTo>
                  <a:pt x="7143750" y="4486275"/>
                </a:lnTo>
                <a:lnTo>
                  <a:pt x="0" y="44862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" t="0" r="-1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6800" y="552450"/>
            <a:ext cx="12858750" cy="1048512"/>
            <a:chOff x="0" y="0"/>
            <a:chExt cx="17145000" cy="1398016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1143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100"/>
                </a:lnSpc>
                <a:spcBef>
                  <a:spcPct val="0"/>
                </a:spcBef>
              </a:pPr>
              <a:r>
                <a:rPr lang="en-US" b="true" sz="1500" spc="120" strike="noStrike" u="none">
                  <a:solidFill>
                    <a:srgbClr val="CE742B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05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536575"/>
              <a:ext cx="17145000" cy="8614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704"/>
                </a:lnSpc>
                <a:spcBef>
                  <a:spcPct val="0"/>
                </a:spcBef>
              </a:pPr>
              <a:r>
                <a:rPr lang="en-US" b="true" sz="4800" strike="noStrike" u="none">
                  <a:solidFill>
                    <a:srgbClr val="172D3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Detailed Design: The Mechanism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811000" y="2676525"/>
            <a:ext cx="495300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15"/>
              </a:lnSpc>
              <a:spcBef>
                <a:spcPct val="0"/>
              </a:spcBef>
            </a:pPr>
            <a:r>
              <a:rPr lang="en-US" b="true" sz="1725" spc="138" strike="noStrike" u="none">
                <a:solidFill>
                  <a:srgbClr val="CE742B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01  CURRENT BECOMES LINEAR FORCE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811000" y="3086100"/>
            <a:ext cx="5334000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00"/>
              </a:lnSpc>
              <a:spcBef>
                <a:spcPct val="0"/>
              </a:spcBef>
            </a:pPr>
            <a:r>
              <a:rPr lang="en-US" b="true" sz="2250" strike="noStrike" u="none">
                <a:solidFill>
                  <a:srgbClr val="172D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 × Moticont GVCM-016-019-01M</a:t>
            </a:r>
          </a:p>
          <a:p>
            <a:pPr algn="l" marL="0" indent="0" lvl="0">
              <a:lnSpc>
                <a:spcPts val="2700"/>
              </a:lnSpc>
              <a:spcBef>
                <a:spcPct val="0"/>
              </a:spcBef>
            </a:pPr>
            <a:r>
              <a:rPr lang="en-US" b="true" sz="2250" strike="noStrike" u="none">
                <a:solidFill>
                  <a:srgbClr val="172D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Bidirectional push and pull</a:t>
            </a:r>
          </a:p>
          <a:p>
            <a:pPr algn="l" marL="0" indent="0" lvl="0">
              <a:lnSpc>
                <a:spcPts val="2700"/>
              </a:lnSpc>
              <a:spcBef>
                <a:spcPct val="0"/>
              </a:spcBef>
            </a:pPr>
            <a:r>
              <a:rPr lang="en-US" b="true" sz="2250" strike="noStrike" u="none">
                <a:solidFill>
                  <a:srgbClr val="172D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1.5 N continuous force per actuator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811000" y="4772025"/>
            <a:ext cx="495300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15"/>
              </a:lnSpc>
              <a:spcBef>
                <a:spcPct val="0"/>
              </a:spcBef>
            </a:pPr>
            <a:r>
              <a:rPr lang="en-US" b="true" sz="1725" spc="138" strike="noStrike" u="none">
                <a:solidFill>
                  <a:srgbClr val="CE742B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02  LINKAGE CREATES ROTATION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811000" y="5200650"/>
            <a:ext cx="5334000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0"/>
              </a:lnSpc>
              <a:spcBef>
                <a:spcPct val="0"/>
              </a:spcBef>
            </a:pPr>
            <a:r>
              <a:rPr lang="en-US" sz="2325" strike="noStrike" u="none">
                <a:solidFill>
                  <a:srgbClr val="243943"/>
                </a:solidFill>
                <a:latin typeface="DM Sans"/>
                <a:ea typeface="DM Sans"/>
                <a:cs typeface="DM Sans"/>
                <a:sym typeface="DM Sans"/>
              </a:rPr>
              <a:t>Offset, spherical-ended pushrods act on the flexure gimbal.</a:t>
            </a:r>
          </a:p>
          <a:p>
            <a:pPr algn="l" marL="0" indent="0" lvl="0">
              <a:lnSpc>
                <a:spcPts val="2790"/>
              </a:lnSpc>
              <a:spcBef>
                <a:spcPct val="0"/>
              </a:spcBef>
            </a:pPr>
            <a:r>
              <a:rPr lang="en-US" sz="2325" strike="noStrike" u="none">
                <a:solidFill>
                  <a:srgbClr val="243943"/>
                </a:solidFill>
                <a:latin typeface="DM Sans"/>
                <a:ea typeface="DM Sans"/>
                <a:cs typeface="DM Sans"/>
                <a:sym typeface="DM Sans"/>
              </a:rPr>
              <a:t>Both rods contribute to pitch and roll.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811000" y="7153275"/>
            <a:ext cx="495300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15"/>
              </a:lnSpc>
              <a:spcBef>
                <a:spcPct val="0"/>
              </a:spcBef>
            </a:pPr>
            <a:r>
              <a:rPr lang="en-US" b="true" sz="1725" spc="138" strike="noStrike" u="none">
                <a:solidFill>
                  <a:srgbClr val="CE742B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03  FLEXURE GUIDANCE + LIMITS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811000" y="7572375"/>
            <a:ext cx="5429250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30"/>
              </a:lnSpc>
              <a:spcBef>
                <a:spcPct val="0"/>
              </a:spcBef>
            </a:pPr>
            <a:r>
              <a:rPr lang="en-US" sz="2025" strike="noStrike" u="none">
                <a:solidFill>
                  <a:srgbClr val="243943"/>
                </a:solidFill>
                <a:latin typeface="DM Sans"/>
                <a:ea typeface="DM Sans"/>
                <a:cs typeface="DM Sans"/>
                <a:sym typeface="DM Sans"/>
              </a:rPr>
              <a:t>C-Flex: 2 × B-10 pitch; 1 × D-10 roll</a:t>
            </a:r>
          </a:p>
          <a:p>
            <a:pPr algn="l" marL="0" indent="0" lvl="0">
              <a:lnSpc>
                <a:spcPts val="2430"/>
              </a:lnSpc>
              <a:spcBef>
                <a:spcPct val="0"/>
              </a:spcBef>
            </a:pPr>
            <a:r>
              <a:rPr lang="en-US" sz="2025" strike="noStrike" u="none">
                <a:solidFill>
                  <a:srgbClr val="243943"/>
                </a:solidFill>
                <a:latin typeface="DM Sans"/>
                <a:ea typeface="DM Sans"/>
                <a:cs typeface="DM Sans"/>
                <a:sym typeface="DM Sans"/>
              </a:rPr>
              <a:t>±15° joints; ±6.35 mm actuator stroke</a:t>
            </a:r>
          </a:p>
          <a:p>
            <a:pPr algn="l" marL="0" indent="0" lvl="0">
              <a:lnSpc>
                <a:spcPts val="2430"/>
              </a:lnSpc>
              <a:spcBef>
                <a:spcPct val="0"/>
              </a:spcBef>
            </a:pPr>
            <a:r>
              <a:rPr lang="en-US" sz="2025" strike="noStrike" u="none">
                <a:solidFill>
                  <a:srgbClr val="243943"/>
                </a:solidFill>
                <a:latin typeface="DM Sans"/>
                <a:ea typeface="DM Sans"/>
                <a:cs typeface="DM Sans"/>
                <a:sym typeface="DM Sans"/>
              </a:rPr>
              <a:t>Restoring torque is included in the model.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66800" y="9705975"/>
            <a:ext cx="161544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89"/>
              </a:lnSpc>
              <a:spcBef>
                <a:spcPct val="0"/>
              </a:spcBef>
            </a:pPr>
            <a:r>
              <a:rPr lang="en-US" sz="1350" spc="54" strike="noStrike" u="none">
                <a:solidFill>
                  <a:srgbClr val="61717A"/>
                </a:solidFill>
                <a:latin typeface="IBM Plex Mono"/>
                <a:ea typeface="IBM Plex Mono"/>
                <a:cs typeface="IBM Plex Mono"/>
                <a:sym typeface="IBM Plex Mono"/>
              </a:rPr>
              <a:t>GROUP 18 · Component specifications (C-Flex Bearing Co., Inc., n.d.-a, n.d.-b; Moticont, n.d.) · 5 / 14</a:t>
            </a:r>
          </a:p>
        </p:txBody>
      </p:sp>
      <p:sp>
        <p:nvSpPr>
          <p:cNvPr name="Freeform 12" id="12" descr="Complete internal mechanism from Figure 2 of the report."/>
          <p:cNvSpPr/>
          <p:nvPr/>
        </p:nvSpPr>
        <p:spPr>
          <a:xfrm flipH="false" flipV="false" rot="0">
            <a:off x="1066800" y="3048000"/>
            <a:ext cx="9906000" cy="5095875"/>
          </a:xfrm>
          <a:custGeom>
            <a:avLst/>
            <a:gdLst/>
            <a:ahLst/>
            <a:cxnLst/>
            <a:rect r="r" b="b" t="t" l="l"/>
            <a:pathLst>
              <a:path h="5095875" w="9906000">
                <a:moveTo>
                  <a:pt x="0" y="0"/>
                </a:moveTo>
                <a:lnTo>
                  <a:pt x="9906000" y="0"/>
                </a:lnTo>
                <a:lnTo>
                  <a:pt x="9906000" y="5095875"/>
                </a:lnTo>
                <a:lnTo>
                  <a:pt x="0" y="50958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7" r="0" b="-17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6800" y="552450"/>
            <a:ext cx="16154400" cy="1048512"/>
            <a:chOff x="0" y="0"/>
            <a:chExt cx="21539200" cy="1398016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1143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100"/>
                </a:lnSpc>
                <a:spcBef>
                  <a:spcPct val="0"/>
                </a:spcBef>
              </a:pPr>
              <a:r>
                <a:rPr lang="en-US" b="true" sz="1500" spc="120" strike="noStrike" u="none">
                  <a:solidFill>
                    <a:srgbClr val="CE742B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06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536575"/>
              <a:ext cx="21539200" cy="8614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704"/>
                </a:lnSpc>
                <a:spcBef>
                  <a:spcPct val="0"/>
                </a:spcBef>
              </a:pPr>
              <a:r>
                <a:rPr lang="en-US" b="true" sz="4800" strike="noStrike" u="none">
                  <a:solidFill>
                    <a:srgbClr val="172D3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Detailed Design: Sensors and Signals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66800" y="1924050"/>
            <a:ext cx="14287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89"/>
              </a:lnSpc>
              <a:spcBef>
                <a:spcPct val="0"/>
              </a:spcBef>
            </a:pPr>
            <a:r>
              <a:rPr lang="en-US" b="true" sz="1350" spc="108" strike="noStrike" u="none">
                <a:solidFill>
                  <a:srgbClr val="CE742B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CUFF: MUSCLE ACTIVATION · SPOON: MOTION FEEDBACK</a:t>
            </a:r>
          </a:p>
        </p:txBody>
      </p:sp>
      <p:sp>
        <p:nvSpPr>
          <p:cNvPr name="AutoShape 6" id="6"/>
          <p:cNvSpPr/>
          <p:nvPr/>
        </p:nvSpPr>
        <p:spPr>
          <a:xfrm>
            <a:off x="1428750" y="3714750"/>
            <a:ext cx="6096000" cy="0"/>
          </a:xfrm>
          <a:prstGeom prst="line">
            <a:avLst/>
          </a:prstGeom>
          <a:ln cap="flat" w="19050">
            <a:solidFill>
              <a:srgbClr val="9AA5A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524000" y="3314700"/>
            <a:ext cx="419100" cy="542925"/>
          </a:xfrm>
          <a:prstGeom prst="line">
            <a:avLst/>
          </a:prstGeom>
          <a:ln cap="rnd" w="28575">
            <a:solidFill>
              <a:srgbClr val="CE742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V="true">
            <a:off x="1943100" y="3505200"/>
            <a:ext cx="419100" cy="457200"/>
          </a:xfrm>
          <a:prstGeom prst="line">
            <a:avLst/>
          </a:prstGeom>
          <a:ln cap="rnd" w="28575">
            <a:solidFill>
              <a:srgbClr val="CE742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2362200" y="3619500"/>
            <a:ext cx="419100" cy="238125"/>
          </a:xfrm>
          <a:prstGeom prst="line">
            <a:avLst/>
          </a:prstGeom>
          <a:ln cap="rnd" w="28575">
            <a:solidFill>
              <a:srgbClr val="CE742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2781300" y="3314700"/>
            <a:ext cx="419100" cy="762000"/>
          </a:xfrm>
          <a:prstGeom prst="line">
            <a:avLst/>
          </a:prstGeom>
          <a:ln cap="rnd" w="28575">
            <a:solidFill>
              <a:srgbClr val="CE742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flipV="true">
            <a:off x="3200400" y="3857625"/>
            <a:ext cx="419100" cy="104775"/>
          </a:xfrm>
          <a:prstGeom prst="line">
            <a:avLst/>
          </a:prstGeom>
          <a:ln cap="rnd" w="28575">
            <a:solidFill>
              <a:srgbClr val="CE742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flipV="true">
            <a:off x="3619500" y="3505200"/>
            <a:ext cx="419100" cy="114300"/>
          </a:xfrm>
          <a:prstGeom prst="line">
            <a:avLst/>
          </a:prstGeom>
          <a:ln cap="rnd" w="28575">
            <a:solidFill>
              <a:srgbClr val="CE742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4038600" y="3314700"/>
            <a:ext cx="419100" cy="542925"/>
          </a:xfrm>
          <a:prstGeom prst="line">
            <a:avLst/>
          </a:prstGeom>
          <a:ln cap="rnd" w="28575">
            <a:solidFill>
              <a:srgbClr val="CE742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4457700" y="3962400"/>
            <a:ext cx="419100" cy="114300"/>
          </a:xfrm>
          <a:prstGeom prst="line">
            <a:avLst/>
          </a:prstGeom>
          <a:ln cap="rnd" w="28575">
            <a:solidFill>
              <a:srgbClr val="CE742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4876800" y="3619500"/>
            <a:ext cx="419100" cy="238125"/>
          </a:xfrm>
          <a:prstGeom prst="line">
            <a:avLst/>
          </a:prstGeom>
          <a:ln cap="rnd" w="28575">
            <a:solidFill>
              <a:srgbClr val="CE742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5295900" y="3314700"/>
            <a:ext cx="419100" cy="190500"/>
          </a:xfrm>
          <a:prstGeom prst="line">
            <a:avLst/>
          </a:prstGeom>
          <a:ln cap="rnd" w="28575">
            <a:solidFill>
              <a:srgbClr val="CE742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flipV="true">
            <a:off x="5715000" y="3857625"/>
            <a:ext cx="419100" cy="104775"/>
          </a:xfrm>
          <a:prstGeom prst="line">
            <a:avLst/>
          </a:prstGeom>
          <a:ln cap="rnd" w="28575">
            <a:solidFill>
              <a:srgbClr val="CE742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6134100" y="3619500"/>
            <a:ext cx="419100" cy="457200"/>
          </a:xfrm>
          <a:prstGeom prst="line">
            <a:avLst/>
          </a:prstGeom>
          <a:ln cap="rnd" w="28575">
            <a:solidFill>
              <a:srgbClr val="CE742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6553200" y="3314700"/>
            <a:ext cx="419100" cy="542925"/>
          </a:xfrm>
          <a:prstGeom prst="line">
            <a:avLst/>
          </a:prstGeom>
          <a:ln cap="rnd" w="28575">
            <a:solidFill>
              <a:srgbClr val="CE742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flipV="true">
            <a:off x="6972300" y="3505200"/>
            <a:ext cx="419100" cy="457200"/>
          </a:xfrm>
          <a:prstGeom prst="line">
            <a:avLst/>
          </a:prstGeom>
          <a:ln cap="rnd" w="28575">
            <a:solidFill>
              <a:srgbClr val="CE742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1428750" y="5905500"/>
            <a:ext cx="6096000" cy="0"/>
          </a:xfrm>
          <a:prstGeom prst="line">
            <a:avLst/>
          </a:prstGeom>
          <a:ln cap="flat" w="19050">
            <a:solidFill>
              <a:srgbClr val="9AA5A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>
            <a:off x="1524000" y="5585460"/>
            <a:ext cx="419100" cy="434340"/>
          </a:xfrm>
          <a:prstGeom prst="line">
            <a:avLst/>
          </a:prstGeom>
          <a:ln cap="rnd" w="28575">
            <a:solidFill>
              <a:srgbClr val="61717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 flipV="true">
            <a:off x="1943100" y="5737860"/>
            <a:ext cx="419100" cy="365760"/>
          </a:xfrm>
          <a:prstGeom prst="line">
            <a:avLst/>
          </a:prstGeom>
          <a:ln cap="rnd" w="28575">
            <a:solidFill>
              <a:srgbClr val="61717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>
            <a:off x="2362200" y="5829300"/>
            <a:ext cx="419100" cy="190500"/>
          </a:xfrm>
          <a:prstGeom prst="line">
            <a:avLst/>
          </a:prstGeom>
          <a:ln cap="rnd" w="28575">
            <a:solidFill>
              <a:srgbClr val="61717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>
            <a:off x="2781300" y="5585460"/>
            <a:ext cx="419100" cy="609600"/>
          </a:xfrm>
          <a:prstGeom prst="line">
            <a:avLst/>
          </a:prstGeom>
          <a:ln cap="rnd" w="28575">
            <a:solidFill>
              <a:srgbClr val="61717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 flipV="true">
            <a:off x="3200400" y="6019800"/>
            <a:ext cx="419100" cy="83820"/>
          </a:xfrm>
          <a:prstGeom prst="line">
            <a:avLst/>
          </a:prstGeom>
          <a:ln cap="rnd" w="28575">
            <a:solidFill>
              <a:srgbClr val="61717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 flipV="true">
            <a:off x="3619500" y="5737860"/>
            <a:ext cx="419100" cy="91440"/>
          </a:xfrm>
          <a:prstGeom prst="line">
            <a:avLst/>
          </a:prstGeom>
          <a:ln cap="rnd" w="28575">
            <a:solidFill>
              <a:srgbClr val="61717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>
            <a:off x="4038600" y="5585460"/>
            <a:ext cx="419100" cy="434340"/>
          </a:xfrm>
          <a:prstGeom prst="line">
            <a:avLst/>
          </a:prstGeom>
          <a:ln cap="rnd" w="28575">
            <a:solidFill>
              <a:srgbClr val="61717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>
            <a:off x="4457700" y="6103620"/>
            <a:ext cx="419100" cy="91440"/>
          </a:xfrm>
          <a:prstGeom prst="line">
            <a:avLst/>
          </a:prstGeom>
          <a:ln cap="rnd" w="28575">
            <a:solidFill>
              <a:srgbClr val="61717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>
            <a:off x="4876800" y="5829300"/>
            <a:ext cx="419100" cy="190500"/>
          </a:xfrm>
          <a:prstGeom prst="line">
            <a:avLst/>
          </a:prstGeom>
          <a:ln cap="rnd" w="28575">
            <a:solidFill>
              <a:srgbClr val="61717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>
            <a:off x="5295900" y="5585460"/>
            <a:ext cx="419100" cy="152400"/>
          </a:xfrm>
          <a:prstGeom prst="line">
            <a:avLst/>
          </a:prstGeom>
          <a:ln cap="rnd" w="28575">
            <a:solidFill>
              <a:srgbClr val="61717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 flipV="true">
            <a:off x="5715000" y="6019800"/>
            <a:ext cx="419100" cy="83820"/>
          </a:xfrm>
          <a:prstGeom prst="line">
            <a:avLst/>
          </a:prstGeom>
          <a:ln cap="rnd" w="28575">
            <a:solidFill>
              <a:srgbClr val="61717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>
            <a:off x="6134100" y="5829300"/>
            <a:ext cx="419100" cy="365760"/>
          </a:xfrm>
          <a:prstGeom prst="line">
            <a:avLst/>
          </a:prstGeom>
          <a:ln cap="rnd" w="28575">
            <a:solidFill>
              <a:srgbClr val="61717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>
            <a:off x="6553200" y="5585460"/>
            <a:ext cx="419100" cy="434340"/>
          </a:xfrm>
          <a:prstGeom prst="line">
            <a:avLst/>
          </a:prstGeom>
          <a:ln cap="rnd" w="28575">
            <a:solidFill>
              <a:srgbClr val="61717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 flipV="true">
            <a:off x="6972300" y="5737860"/>
            <a:ext cx="419100" cy="365760"/>
          </a:xfrm>
          <a:prstGeom prst="line">
            <a:avLst/>
          </a:prstGeom>
          <a:ln cap="rnd" w="28575">
            <a:solidFill>
              <a:srgbClr val="61717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6" id="36"/>
          <p:cNvSpPr txBox="true"/>
          <p:nvPr/>
        </p:nvSpPr>
        <p:spPr>
          <a:xfrm rot="0">
            <a:off x="1428750" y="7019925"/>
            <a:ext cx="657225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25"/>
              </a:lnSpc>
              <a:spcBef>
                <a:spcPct val="0"/>
              </a:spcBef>
            </a:pPr>
            <a:r>
              <a:rPr lang="en-US" b="true" sz="1875" spc="150" strike="noStrike" u="none">
                <a:solidFill>
                  <a:srgbClr val="CE742B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PITCH: AGONIST + ANTAGONIST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28750" y="7353300"/>
            <a:ext cx="657225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25"/>
              </a:lnSpc>
              <a:spcBef>
                <a:spcPct val="0"/>
              </a:spcBef>
            </a:pPr>
            <a:r>
              <a:rPr lang="en-US" b="true" sz="1875" spc="150" strike="noStrike" u="none">
                <a:solidFill>
                  <a:srgbClr val="CE742B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ROLL: AGONIST + ANTAGONIST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428750" y="7867650"/>
            <a:ext cx="6572250" cy="702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35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243943"/>
                </a:solidFill>
                <a:latin typeface="DM Sans"/>
                <a:ea typeface="DM Sans"/>
                <a:cs typeface="DM Sans"/>
                <a:sym typeface="DM Sans"/>
              </a:rPr>
              <a:t>4 bipolar channels</a:t>
            </a:r>
          </a:p>
          <a:p>
            <a:pPr algn="l" marL="0" indent="0" lvl="0">
              <a:lnSpc>
                <a:spcPts val="2835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243943"/>
                </a:solidFill>
                <a:latin typeface="DM Sans"/>
                <a:ea typeface="DM Sans"/>
                <a:cs typeface="DM Sans"/>
                <a:sym typeface="DM Sans"/>
              </a:rPr>
              <a:t>8 measurement contacts + shared reference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8572500" y="3333750"/>
            <a:ext cx="2190750" cy="1143000"/>
            <a:chOff x="0" y="0"/>
            <a:chExt cx="2921000" cy="1524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921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2921000">
                  <a:moveTo>
                    <a:pt x="77304" y="0"/>
                  </a:moveTo>
                  <a:lnTo>
                    <a:pt x="2843696" y="0"/>
                  </a:lnTo>
                  <a:cubicBezTo>
                    <a:pt x="2864198" y="0"/>
                    <a:pt x="2883861" y="8145"/>
                    <a:pt x="2898358" y="22642"/>
                  </a:cubicBezTo>
                  <a:cubicBezTo>
                    <a:pt x="2912856" y="37139"/>
                    <a:pt x="2921000" y="56802"/>
                    <a:pt x="2921000" y="77304"/>
                  </a:cubicBezTo>
                  <a:lnTo>
                    <a:pt x="2921000" y="1446696"/>
                  </a:lnTo>
                  <a:cubicBezTo>
                    <a:pt x="2921000" y="1467198"/>
                    <a:pt x="2912856" y="1486861"/>
                    <a:pt x="2898358" y="1501358"/>
                  </a:cubicBezTo>
                  <a:cubicBezTo>
                    <a:pt x="2883861" y="1515855"/>
                    <a:pt x="2864198" y="1524000"/>
                    <a:pt x="2843696" y="1524000"/>
                  </a:cubicBezTo>
                  <a:lnTo>
                    <a:pt x="77304" y="1524000"/>
                  </a:lnTo>
                  <a:cubicBezTo>
                    <a:pt x="56802" y="1524000"/>
                    <a:pt x="37139" y="1515855"/>
                    <a:pt x="22642" y="1501358"/>
                  </a:cubicBezTo>
                  <a:cubicBezTo>
                    <a:pt x="8145" y="1486861"/>
                    <a:pt x="0" y="1467198"/>
                    <a:pt x="0" y="1446696"/>
                  </a:cubicBezTo>
                  <a:lnTo>
                    <a:pt x="0" y="77304"/>
                  </a:lnTo>
                  <a:cubicBezTo>
                    <a:pt x="0" y="56802"/>
                    <a:pt x="8145" y="37139"/>
                    <a:pt x="22642" y="22642"/>
                  </a:cubicBezTo>
                  <a:cubicBezTo>
                    <a:pt x="37139" y="8145"/>
                    <a:pt x="56802" y="0"/>
                    <a:pt x="77304" y="0"/>
                  </a:cubicBezTo>
                  <a:close/>
                </a:path>
              </a:pathLst>
            </a:custGeom>
            <a:solidFill>
              <a:srgbClr val="172D38"/>
            </a:solidFill>
            <a:ln cap="sq">
              <a:noFill/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19050"/>
              <a:ext cx="2921000" cy="1504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42"/>
                </a:lnSpc>
                <a:spcBef>
                  <a:spcPct val="0"/>
                </a:spcBef>
              </a:pPr>
              <a:r>
                <a:rPr lang="en-US" b="true" sz="1950" strike="noStrike" u="none">
                  <a:solidFill>
                    <a:srgbClr val="F5F4F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20–450 Hz</a:t>
              </a:r>
            </a:p>
            <a:p>
              <a:pPr algn="ctr" marL="0" indent="0" lvl="0">
                <a:lnSpc>
                  <a:spcPts val="2242"/>
                </a:lnSpc>
                <a:spcBef>
                  <a:spcPct val="0"/>
                </a:spcBef>
              </a:pPr>
              <a:r>
                <a:rPr lang="en-US" b="true" sz="1950" strike="noStrike" u="none">
                  <a:solidFill>
                    <a:srgbClr val="F5F4F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FILTER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1525250" y="3333750"/>
            <a:ext cx="2190750" cy="1143000"/>
            <a:chOff x="0" y="0"/>
            <a:chExt cx="2921000" cy="15240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921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2921000">
                  <a:moveTo>
                    <a:pt x="77304" y="0"/>
                  </a:moveTo>
                  <a:lnTo>
                    <a:pt x="2843696" y="0"/>
                  </a:lnTo>
                  <a:cubicBezTo>
                    <a:pt x="2864198" y="0"/>
                    <a:pt x="2883861" y="8145"/>
                    <a:pt x="2898358" y="22642"/>
                  </a:cubicBezTo>
                  <a:cubicBezTo>
                    <a:pt x="2912856" y="37139"/>
                    <a:pt x="2921000" y="56802"/>
                    <a:pt x="2921000" y="77304"/>
                  </a:cubicBezTo>
                  <a:lnTo>
                    <a:pt x="2921000" y="1446696"/>
                  </a:lnTo>
                  <a:cubicBezTo>
                    <a:pt x="2921000" y="1467198"/>
                    <a:pt x="2912856" y="1486861"/>
                    <a:pt x="2898358" y="1501358"/>
                  </a:cubicBezTo>
                  <a:cubicBezTo>
                    <a:pt x="2883861" y="1515855"/>
                    <a:pt x="2864198" y="1524000"/>
                    <a:pt x="2843696" y="1524000"/>
                  </a:cubicBezTo>
                  <a:lnTo>
                    <a:pt x="77304" y="1524000"/>
                  </a:lnTo>
                  <a:cubicBezTo>
                    <a:pt x="56802" y="1524000"/>
                    <a:pt x="37139" y="1515855"/>
                    <a:pt x="22642" y="1501358"/>
                  </a:cubicBezTo>
                  <a:cubicBezTo>
                    <a:pt x="8145" y="1486861"/>
                    <a:pt x="0" y="1467198"/>
                    <a:pt x="0" y="1446696"/>
                  </a:cubicBezTo>
                  <a:lnTo>
                    <a:pt x="0" y="77304"/>
                  </a:lnTo>
                  <a:cubicBezTo>
                    <a:pt x="0" y="56802"/>
                    <a:pt x="8145" y="37139"/>
                    <a:pt x="22642" y="22642"/>
                  </a:cubicBezTo>
                  <a:cubicBezTo>
                    <a:pt x="37139" y="8145"/>
                    <a:pt x="56802" y="0"/>
                    <a:pt x="77304" y="0"/>
                  </a:cubicBezTo>
                  <a:close/>
                </a:path>
              </a:pathLst>
            </a:custGeom>
            <a:solidFill>
              <a:srgbClr val="E3E1DA"/>
            </a:solidFill>
            <a:ln cap="sq">
              <a:noFill/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19050"/>
              <a:ext cx="2921000" cy="1504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42"/>
                </a:lnSpc>
                <a:spcBef>
                  <a:spcPct val="0"/>
                </a:spcBef>
              </a:pPr>
              <a:r>
                <a:rPr lang="en-US" b="true" sz="1950" strike="noStrike" u="none">
                  <a:solidFill>
                    <a:srgbClr val="172D3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RECTIFY</a:t>
              </a:r>
            </a:p>
            <a:p>
              <a:pPr algn="ctr" marL="0" indent="0" lvl="0">
                <a:lnSpc>
                  <a:spcPts val="2242"/>
                </a:lnSpc>
                <a:spcBef>
                  <a:spcPct val="0"/>
                </a:spcBef>
              </a:pPr>
              <a:r>
                <a:rPr lang="en-US" b="true" sz="1950" strike="noStrike" u="none">
                  <a:solidFill>
                    <a:srgbClr val="172D3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+ ENVELOPE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4478000" y="3333750"/>
            <a:ext cx="2190750" cy="1143000"/>
            <a:chOff x="0" y="0"/>
            <a:chExt cx="2921000" cy="15240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921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2921000">
                  <a:moveTo>
                    <a:pt x="77304" y="0"/>
                  </a:moveTo>
                  <a:lnTo>
                    <a:pt x="2843696" y="0"/>
                  </a:lnTo>
                  <a:cubicBezTo>
                    <a:pt x="2864198" y="0"/>
                    <a:pt x="2883861" y="8145"/>
                    <a:pt x="2898358" y="22642"/>
                  </a:cubicBezTo>
                  <a:cubicBezTo>
                    <a:pt x="2912856" y="37139"/>
                    <a:pt x="2921000" y="56802"/>
                    <a:pt x="2921000" y="77304"/>
                  </a:cubicBezTo>
                  <a:lnTo>
                    <a:pt x="2921000" y="1446696"/>
                  </a:lnTo>
                  <a:cubicBezTo>
                    <a:pt x="2921000" y="1467198"/>
                    <a:pt x="2912856" y="1486861"/>
                    <a:pt x="2898358" y="1501358"/>
                  </a:cubicBezTo>
                  <a:cubicBezTo>
                    <a:pt x="2883861" y="1515855"/>
                    <a:pt x="2864198" y="1524000"/>
                    <a:pt x="2843696" y="1524000"/>
                  </a:cubicBezTo>
                  <a:lnTo>
                    <a:pt x="77304" y="1524000"/>
                  </a:lnTo>
                  <a:cubicBezTo>
                    <a:pt x="56802" y="1524000"/>
                    <a:pt x="37139" y="1515855"/>
                    <a:pt x="22642" y="1501358"/>
                  </a:cubicBezTo>
                  <a:cubicBezTo>
                    <a:pt x="8145" y="1486861"/>
                    <a:pt x="0" y="1467198"/>
                    <a:pt x="0" y="1446696"/>
                  </a:cubicBezTo>
                  <a:lnTo>
                    <a:pt x="0" y="77304"/>
                  </a:lnTo>
                  <a:cubicBezTo>
                    <a:pt x="0" y="56802"/>
                    <a:pt x="8145" y="37139"/>
                    <a:pt x="22642" y="22642"/>
                  </a:cubicBezTo>
                  <a:cubicBezTo>
                    <a:pt x="37139" y="8145"/>
                    <a:pt x="56802" y="0"/>
                    <a:pt x="77304" y="0"/>
                  </a:cubicBezTo>
                  <a:close/>
                </a:path>
              </a:pathLst>
            </a:custGeom>
            <a:solidFill>
              <a:srgbClr val="CE742B"/>
            </a:solidFill>
            <a:ln cap="sq">
              <a:noFill/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9525"/>
              <a:ext cx="2921000" cy="1514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7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TIMESTAMPED</a:t>
              </a:r>
            </a:p>
            <a:p>
              <a:pPr algn="ctr" marL="0" indent="0" lvl="0">
                <a:lnSpc>
                  <a:spcPts val="207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BLE FEATURES</a:t>
              </a:r>
            </a:p>
          </p:txBody>
        </p:sp>
      </p:grpSp>
      <p:sp>
        <p:nvSpPr>
          <p:cNvPr name="AutoShape 48" id="48"/>
          <p:cNvSpPr/>
          <p:nvPr/>
        </p:nvSpPr>
        <p:spPr>
          <a:xfrm>
            <a:off x="10763250" y="3905250"/>
            <a:ext cx="762000" cy="0"/>
          </a:xfrm>
          <a:prstGeom prst="line">
            <a:avLst/>
          </a:prstGeom>
          <a:ln cap="flat" w="38100">
            <a:solidFill>
              <a:srgbClr val="61717A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9" id="49"/>
          <p:cNvSpPr/>
          <p:nvPr/>
        </p:nvSpPr>
        <p:spPr>
          <a:xfrm>
            <a:off x="13716000" y="3905250"/>
            <a:ext cx="762000" cy="0"/>
          </a:xfrm>
          <a:prstGeom prst="line">
            <a:avLst/>
          </a:prstGeom>
          <a:ln cap="flat" w="38100">
            <a:solidFill>
              <a:srgbClr val="61717A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50" id="50"/>
          <p:cNvSpPr txBox="true"/>
          <p:nvPr/>
        </p:nvSpPr>
        <p:spPr>
          <a:xfrm rot="0">
            <a:off x="8715375" y="5143500"/>
            <a:ext cx="8382000" cy="2451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15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243943"/>
                </a:solidFill>
                <a:latin typeface="DM Sans"/>
                <a:ea typeface="DM Sans"/>
                <a:cs typeface="DM Sans"/>
                <a:sym typeface="DM Sans"/>
              </a:rPr>
              <a:t>CUFF · ADS1294</a:t>
            </a:r>
          </a:p>
          <a:p>
            <a:pPr algn="l" marL="0" indent="0" lvl="0">
              <a:lnSpc>
                <a:spcPts val="2415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243943"/>
                </a:solidFill>
                <a:latin typeface="DM Sans"/>
                <a:ea typeface="DM Sans"/>
                <a:cs typeface="DM Sans"/>
                <a:sym typeface="DM Sans"/>
              </a:rPr>
              <a:t>4-channel sEMG at 4 kHz/channel.</a:t>
            </a:r>
          </a:p>
          <a:p>
            <a:pPr algn="l" marL="0" indent="0" lvl="0">
              <a:lnSpc>
                <a:spcPts val="2415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415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243943"/>
                </a:solidFill>
                <a:latin typeface="DM Sans"/>
                <a:ea typeface="DM Sans"/>
                <a:cs typeface="DM Sans"/>
                <a:sym typeface="DM Sans"/>
              </a:rPr>
              <a:t>SPOON · 2 × BMI270 IMUs at 800 Hz</a:t>
            </a:r>
          </a:p>
          <a:p>
            <a:pPr algn="l" marL="0" indent="0" lvl="0">
              <a:lnSpc>
                <a:spcPts val="2415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243943"/>
                </a:solidFill>
                <a:latin typeface="DM Sans"/>
                <a:ea typeface="DM Sans"/>
                <a:cs typeface="DM Sans"/>
                <a:sym typeface="DM Sans"/>
              </a:rPr>
              <a:t>Handle and carrier motion feed the controller.</a:t>
            </a:r>
          </a:p>
          <a:p>
            <a:pPr algn="l" marL="0" indent="0" lvl="0">
              <a:lnSpc>
                <a:spcPts val="2415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415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243943"/>
                </a:solidFill>
                <a:latin typeface="DM Sans"/>
                <a:ea typeface="DM Sans"/>
                <a:cs typeface="DM Sans"/>
                <a:sym typeface="DM Sans"/>
              </a:rPr>
              <a:t>Muscle features adjust intent confidence.</a:t>
            </a:r>
          </a:p>
          <a:p>
            <a:pPr algn="l" marL="0" indent="0" lvl="0">
              <a:lnSpc>
                <a:spcPts val="2415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243943"/>
                </a:solidFill>
                <a:latin typeface="DM Sans"/>
                <a:ea typeface="DM Sans"/>
                <a:cs typeface="DM Sans"/>
                <a:sym typeface="DM Sans"/>
              </a:rPr>
              <a:t>Signal loss falls back to IMU-only control.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066800" y="9705975"/>
            <a:ext cx="161544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89"/>
              </a:lnSpc>
              <a:spcBef>
                <a:spcPct val="0"/>
              </a:spcBef>
            </a:pPr>
            <a:r>
              <a:rPr lang="en-US" sz="1350" spc="54" strike="noStrike" u="none">
                <a:solidFill>
                  <a:srgbClr val="61717A"/>
                </a:solidFill>
                <a:latin typeface="IBM Plex Mono"/>
                <a:ea typeface="IBM Plex Mono"/>
                <a:cs typeface="IBM Plex Mono"/>
                <a:sym typeface="IBM Plex Mono"/>
              </a:rPr>
              <a:t>GROUP 18 · Sensor specifications (Bosch Sensortec, 2026; Texas Instruments, 2015) · 6 / 14</a:t>
            </a:r>
          </a:p>
        </p:txBody>
      </p:sp>
      <p:sp>
        <p:nvSpPr>
          <p:cNvPr name="Freeform 52" id="52" descr="Initial spoon and forearm cuff concept, reproduced from Figure 1 of the team's final report."/>
          <p:cNvSpPr/>
          <p:nvPr/>
        </p:nvSpPr>
        <p:spPr>
          <a:xfrm flipH="false" flipV="false" rot="0">
            <a:off x="1066800" y="2476500"/>
            <a:ext cx="7143750" cy="4486275"/>
          </a:xfrm>
          <a:custGeom>
            <a:avLst/>
            <a:gdLst/>
            <a:ahLst/>
            <a:cxnLst/>
            <a:rect r="r" b="b" t="t" l="l"/>
            <a:pathLst>
              <a:path h="4486275" w="7143750">
                <a:moveTo>
                  <a:pt x="0" y="0"/>
                </a:moveTo>
                <a:lnTo>
                  <a:pt x="7143750" y="0"/>
                </a:lnTo>
                <a:lnTo>
                  <a:pt x="7143750" y="4486275"/>
                </a:lnTo>
                <a:lnTo>
                  <a:pt x="0" y="44862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" t="0" r="-1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6800" y="552450"/>
            <a:ext cx="12858750" cy="1048512"/>
            <a:chOff x="0" y="0"/>
            <a:chExt cx="17145000" cy="1398016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1143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100"/>
                </a:lnSpc>
                <a:spcBef>
                  <a:spcPct val="0"/>
                </a:spcBef>
              </a:pPr>
              <a:r>
                <a:rPr lang="en-US" b="true" sz="1500" spc="120" strike="noStrike" u="none">
                  <a:solidFill>
                    <a:srgbClr val="CE742B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07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536575"/>
              <a:ext cx="17145000" cy="8614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704"/>
                </a:lnSpc>
                <a:spcBef>
                  <a:spcPct val="0"/>
                </a:spcBef>
              </a:pPr>
              <a:r>
                <a:rPr lang="en-US" b="true" sz="4800" strike="noStrike" u="none">
                  <a:solidFill>
                    <a:srgbClr val="172D3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Control and Feasibility Method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95375" y="3714750"/>
            <a:ext cx="2857500" cy="2000250"/>
            <a:chOff x="0" y="0"/>
            <a:chExt cx="3810000" cy="2667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100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3810000">
                  <a:moveTo>
                    <a:pt x="59267" y="0"/>
                  </a:moveTo>
                  <a:lnTo>
                    <a:pt x="3750733" y="0"/>
                  </a:lnTo>
                  <a:cubicBezTo>
                    <a:pt x="3783466" y="0"/>
                    <a:pt x="3810000" y="26535"/>
                    <a:pt x="3810000" y="59267"/>
                  </a:cubicBezTo>
                  <a:lnTo>
                    <a:pt x="3810000" y="2607733"/>
                  </a:lnTo>
                  <a:cubicBezTo>
                    <a:pt x="3810000" y="2640465"/>
                    <a:pt x="3783466" y="2667000"/>
                    <a:pt x="3750733" y="2667000"/>
                  </a:cubicBezTo>
                  <a:lnTo>
                    <a:pt x="59267" y="2667000"/>
                  </a:lnTo>
                  <a:cubicBezTo>
                    <a:pt x="26535" y="2667000"/>
                    <a:pt x="0" y="2640465"/>
                    <a:pt x="0" y="2607733"/>
                  </a:cubicBezTo>
                  <a:lnTo>
                    <a:pt x="0" y="59267"/>
                  </a:lnTo>
                  <a:cubicBezTo>
                    <a:pt x="0" y="26535"/>
                    <a:pt x="26535" y="0"/>
                    <a:pt x="59267" y="0"/>
                  </a:cubicBezTo>
                  <a:close/>
                </a:path>
              </a:pathLst>
            </a:custGeom>
            <a:solidFill>
              <a:srgbClr val="172D38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3810000" cy="266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15"/>
                </a:lnSpc>
                <a:spcBef>
                  <a:spcPct val="0"/>
                </a:spcBef>
              </a:pPr>
              <a:r>
                <a:rPr lang="en-US" b="true" sz="2100" strike="noStrike" u="none">
                  <a:solidFill>
                    <a:srgbClr val="F5F4F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2 IMUs + sEMG cue</a:t>
              </a:r>
            </a:p>
            <a:p>
              <a:pPr algn="ctr" marL="0" indent="0" lvl="0">
                <a:lnSpc>
                  <a:spcPts val="2415"/>
                </a:lnSpc>
                <a:spcBef>
                  <a:spcPct val="0"/>
                </a:spcBef>
              </a:pPr>
              <a:r>
                <a:rPr lang="en-US" b="true" sz="2100" strike="noStrike" u="none">
                  <a:solidFill>
                    <a:srgbClr val="F5F4F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Intent / tremor EKF</a:t>
              </a:r>
            </a:p>
          </p:txBody>
        </p:sp>
      </p:grpSp>
      <p:sp>
        <p:nvSpPr>
          <p:cNvPr name="AutoShape 8" id="8"/>
          <p:cNvSpPr/>
          <p:nvPr/>
        </p:nvSpPr>
        <p:spPr>
          <a:xfrm>
            <a:off x="3952875" y="4714875"/>
            <a:ext cx="809625" cy="0"/>
          </a:xfrm>
          <a:prstGeom prst="line">
            <a:avLst/>
          </a:prstGeom>
          <a:ln cap="flat" w="38100">
            <a:solidFill>
              <a:srgbClr val="61717A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9" id="9"/>
          <p:cNvGrpSpPr/>
          <p:nvPr/>
        </p:nvGrpSpPr>
        <p:grpSpPr>
          <a:xfrm rot="0">
            <a:off x="4762500" y="3714750"/>
            <a:ext cx="2857500" cy="2000250"/>
            <a:chOff x="0" y="0"/>
            <a:chExt cx="3810000" cy="2667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8100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3810000">
                  <a:moveTo>
                    <a:pt x="59267" y="0"/>
                  </a:moveTo>
                  <a:lnTo>
                    <a:pt x="3750733" y="0"/>
                  </a:lnTo>
                  <a:cubicBezTo>
                    <a:pt x="3783466" y="0"/>
                    <a:pt x="3810000" y="26535"/>
                    <a:pt x="3810000" y="59267"/>
                  </a:cubicBezTo>
                  <a:lnTo>
                    <a:pt x="3810000" y="2607733"/>
                  </a:lnTo>
                  <a:cubicBezTo>
                    <a:pt x="3810000" y="2640465"/>
                    <a:pt x="3783466" y="2667000"/>
                    <a:pt x="3750733" y="2667000"/>
                  </a:cubicBezTo>
                  <a:lnTo>
                    <a:pt x="59267" y="2667000"/>
                  </a:lnTo>
                  <a:cubicBezTo>
                    <a:pt x="26535" y="2667000"/>
                    <a:pt x="0" y="2640465"/>
                    <a:pt x="0" y="2607733"/>
                  </a:cubicBezTo>
                  <a:lnTo>
                    <a:pt x="0" y="59267"/>
                  </a:lnTo>
                  <a:cubicBezTo>
                    <a:pt x="0" y="26535"/>
                    <a:pt x="26535" y="0"/>
                    <a:pt x="59267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9525"/>
              <a:ext cx="3810000" cy="2657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87"/>
                </a:lnSpc>
              </a:pPr>
              <a:r>
                <a:rPr lang="en-US" sz="2250" b="true">
                  <a:solidFill>
                    <a:srgbClr val="172D3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800 Hz</a:t>
              </a:r>
            </a:p>
            <a:p>
              <a:pPr algn="ctr">
                <a:lnSpc>
                  <a:spcPts val="2587"/>
                </a:lnSpc>
              </a:pPr>
              <a:r>
                <a:rPr lang="en-US" sz="2250" b="true">
                  <a:solidFill>
                    <a:srgbClr val="172D3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ATTITUDE PID</a:t>
              </a:r>
            </a:p>
          </p:txBody>
        </p:sp>
      </p:grpSp>
      <p:sp>
        <p:nvSpPr>
          <p:cNvPr name="AutoShape 12" id="12"/>
          <p:cNvSpPr/>
          <p:nvPr/>
        </p:nvSpPr>
        <p:spPr>
          <a:xfrm>
            <a:off x="7620000" y="4714875"/>
            <a:ext cx="809625" cy="0"/>
          </a:xfrm>
          <a:prstGeom prst="line">
            <a:avLst/>
          </a:prstGeom>
          <a:ln cap="flat" w="38100">
            <a:solidFill>
              <a:srgbClr val="61717A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3" id="13"/>
          <p:cNvGrpSpPr/>
          <p:nvPr/>
        </p:nvGrpSpPr>
        <p:grpSpPr>
          <a:xfrm rot="0">
            <a:off x="8429625" y="3714750"/>
            <a:ext cx="2857500" cy="2000250"/>
            <a:chOff x="0" y="0"/>
            <a:chExt cx="3810000" cy="2667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8100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3810000">
                  <a:moveTo>
                    <a:pt x="59267" y="0"/>
                  </a:moveTo>
                  <a:lnTo>
                    <a:pt x="3750733" y="0"/>
                  </a:lnTo>
                  <a:cubicBezTo>
                    <a:pt x="3783466" y="0"/>
                    <a:pt x="3810000" y="26535"/>
                    <a:pt x="3810000" y="59267"/>
                  </a:cubicBezTo>
                  <a:lnTo>
                    <a:pt x="3810000" y="2607733"/>
                  </a:lnTo>
                  <a:cubicBezTo>
                    <a:pt x="3810000" y="2640465"/>
                    <a:pt x="3783466" y="2667000"/>
                    <a:pt x="3750733" y="2667000"/>
                  </a:cubicBezTo>
                  <a:lnTo>
                    <a:pt x="59267" y="2667000"/>
                  </a:lnTo>
                  <a:cubicBezTo>
                    <a:pt x="26535" y="2667000"/>
                    <a:pt x="0" y="2640465"/>
                    <a:pt x="0" y="2607733"/>
                  </a:cubicBezTo>
                  <a:lnTo>
                    <a:pt x="0" y="59267"/>
                  </a:lnTo>
                  <a:cubicBezTo>
                    <a:pt x="0" y="26535"/>
                    <a:pt x="26535" y="0"/>
                    <a:pt x="59267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9525"/>
              <a:ext cx="3810000" cy="2657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87"/>
                </a:lnSpc>
              </a:pPr>
              <a:r>
                <a:rPr lang="en-US" sz="2250" b="true">
                  <a:solidFill>
                    <a:srgbClr val="172D3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FORCE</a:t>
              </a:r>
            </a:p>
            <a:p>
              <a:pPr algn="ctr">
                <a:lnSpc>
                  <a:spcPts val="2587"/>
                </a:lnSpc>
              </a:pPr>
              <a:r>
                <a:rPr lang="en-US" sz="2250" b="true">
                  <a:solidFill>
                    <a:srgbClr val="172D3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ALLOCATION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>
            <a:off x="11287125" y="4714875"/>
            <a:ext cx="809625" cy="0"/>
          </a:xfrm>
          <a:prstGeom prst="line">
            <a:avLst/>
          </a:prstGeom>
          <a:ln cap="flat" w="38100">
            <a:solidFill>
              <a:srgbClr val="61717A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7" id="17"/>
          <p:cNvGrpSpPr/>
          <p:nvPr/>
        </p:nvGrpSpPr>
        <p:grpSpPr>
          <a:xfrm rot="0">
            <a:off x="12096750" y="3714750"/>
            <a:ext cx="2857500" cy="2000250"/>
            <a:chOff x="0" y="0"/>
            <a:chExt cx="3810000" cy="2667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8100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3810000">
                  <a:moveTo>
                    <a:pt x="59267" y="0"/>
                  </a:moveTo>
                  <a:lnTo>
                    <a:pt x="3750733" y="0"/>
                  </a:lnTo>
                  <a:cubicBezTo>
                    <a:pt x="3783466" y="0"/>
                    <a:pt x="3810000" y="26535"/>
                    <a:pt x="3810000" y="59267"/>
                  </a:cubicBezTo>
                  <a:lnTo>
                    <a:pt x="3810000" y="2607733"/>
                  </a:lnTo>
                  <a:cubicBezTo>
                    <a:pt x="3810000" y="2640465"/>
                    <a:pt x="3783466" y="2667000"/>
                    <a:pt x="3750733" y="2667000"/>
                  </a:cubicBezTo>
                  <a:lnTo>
                    <a:pt x="59267" y="2667000"/>
                  </a:lnTo>
                  <a:cubicBezTo>
                    <a:pt x="26535" y="2667000"/>
                    <a:pt x="0" y="2640465"/>
                    <a:pt x="0" y="2607733"/>
                  </a:cubicBezTo>
                  <a:lnTo>
                    <a:pt x="0" y="59267"/>
                  </a:lnTo>
                  <a:cubicBezTo>
                    <a:pt x="0" y="26535"/>
                    <a:pt x="26535" y="0"/>
                    <a:pt x="59267" y="0"/>
                  </a:cubicBezTo>
                  <a:close/>
                </a:path>
              </a:pathLst>
            </a:custGeom>
            <a:solidFill>
              <a:srgbClr val="CE742B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9525"/>
              <a:ext cx="3810000" cy="2657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28"/>
                </a:lnSpc>
                <a:spcBef>
                  <a:spcPct val="0"/>
                </a:spcBef>
              </a:pPr>
              <a:r>
                <a:rPr lang="en-US" b="true" sz="2025" strike="noStrike" u="none">
                  <a:solidFill>
                    <a:srgbClr val="F5F4F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10 kHz CURRENT PI</a:t>
              </a:r>
            </a:p>
            <a:p>
              <a:pPr algn="ctr" marL="0" indent="0" lvl="0">
                <a:lnSpc>
                  <a:spcPts val="2328"/>
                </a:lnSpc>
                <a:spcBef>
                  <a:spcPct val="0"/>
                </a:spcBef>
              </a:pPr>
              <a:r>
                <a:rPr lang="en-US" b="true" sz="2025" strike="noStrike" u="none">
                  <a:solidFill>
                    <a:srgbClr val="F5F4F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DRV8874 drivers</a:t>
              </a:r>
            </a:p>
            <a:p>
              <a:pPr algn="ctr" marL="0" indent="0" lvl="0">
                <a:lnSpc>
                  <a:spcPts val="2328"/>
                </a:lnSpc>
                <a:spcBef>
                  <a:spcPct val="0"/>
                </a:spcBef>
              </a:pPr>
              <a:r>
                <a:rPr lang="en-US" b="true" sz="2025" strike="noStrike" u="none">
                  <a:solidFill>
                    <a:srgbClr val="F5F4F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Voice coils + gimbal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762500" y="6858000"/>
            <a:ext cx="2857500" cy="1143000"/>
            <a:chOff x="0" y="0"/>
            <a:chExt cx="3810000" cy="1524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810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3810000">
                  <a:moveTo>
                    <a:pt x="59267" y="0"/>
                  </a:moveTo>
                  <a:lnTo>
                    <a:pt x="3750733" y="0"/>
                  </a:lnTo>
                  <a:cubicBezTo>
                    <a:pt x="3783466" y="0"/>
                    <a:pt x="3810000" y="26535"/>
                    <a:pt x="3810000" y="59267"/>
                  </a:cubicBezTo>
                  <a:lnTo>
                    <a:pt x="3810000" y="1464733"/>
                  </a:lnTo>
                  <a:cubicBezTo>
                    <a:pt x="3810000" y="1497465"/>
                    <a:pt x="3783466" y="1524000"/>
                    <a:pt x="3750733" y="1524000"/>
                  </a:cubicBezTo>
                  <a:lnTo>
                    <a:pt x="59267" y="1524000"/>
                  </a:lnTo>
                  <a:cubicBezTo>
                    <a:pt x="26535" y="1524000"/>
                    <a:pt x="0" y="1497465"/>
                    <a:pt x="0" y="1464733"/>
                  </a:cubicBezTo>
                  <a:lnTo>
                    <a:pt x="0" y="59267"/>
                  </a:lnTo>
                  <a:cubicBezTo>
                    <a:pt x="0" y="26535"/>
                    <a:pt x="26535" y="0"/>
                    <a:pt x="59267" y="0"/>
                  </a:cubicBezTo>
                  <a:close/>
                </a:path>
              </a:pathLst>
            </a:custGeom>
            <a:solidFill>
              <a:srgbClr val="E3E1DA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9525"/>
              <a:ext cx="3810000" cy="1514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56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172D3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CURRENT + TRAVEL</a:t>
              </a:r>
            </a:p>
            <a:p>
              <a:pPr algn="ctr" marL="0" indent="0" lvl="0">
                <a:lnSpc>
                  <a:spcPts val="2156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172D3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AUTHORITY LIMITER</a:t>
              </a:r>
            </a:p>
          </p:txBody>
        </p:sp>
      </p:grpSp>
      <p:sp>
        <p:nvSpPr>
          <p:cNvPr name="AutoShape 23" id="23"/>
          <p:cNvSpPr/>
          <p:nvPr/>
        </p:nvSpPr>
        <p:spPr>
          <a:xfrm flipV="true">
            <a:off x="6191250" y="5715000"/>
            <a:ext cx="0" cy="1143000"/>
          </a:xfrm>
          <a:prstGeom prst="line">
            <a:avLst/>
          </a:prstGeom>
          <a:ln cap="flat" w="38100">
            <a:solidFill>
              <a:srgbClr val="CE742B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24" id="24"/>
          <p:cNvSpPr txBox="true"/>
          <p:nvPr/>
        </p:nvSpPr>
        <p:spPr>
          <a:xfrm rot="0">
            <a:off x="1066800" y="2047875"/>
            <a:ext cx="15906750" cy="373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5"/>
              </a:lnSpc>
              <a:spcBef>
                <a:spcPct val="0"/>
              </a:spcBef>
            </a:pPr>
            <a:r>
              <a:rPr lang="en-US" sz="2175" strike="noStrike" u="none">
                <a:solidFill>
                  <a:srgbClr val="19323D"/>
                </a:solidFill>
                <a:latin typeface="IBM Plex Mono"/>
                <a:ea typeface="IBM Plex Mono"/>
                <a:cs typeface="IBM Plex Mono"/>
                <a:sym typeface="IBM Plex Mono"/>
              </a:rPr>
              <a:t>Challenge: intent and tremor overlap, while actuator force and travel are limited.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572500" y="6657975"/>
            <a:ext cx="8572500" cy="126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243943"/>
                </a:solidFill>
                <a:latin typeface="DM Sans"/>
                <a:ea typeface="DM Sans"/>
                <a:cs typeface="DM Sans"/>
                <a:sym typeface="DM Sans"/>
              </a:rPr>
              <a:t>EVALUATION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243943"/>
                </a:solidFill>
                <a:latin typeface="DM Sans"/>
                <a:ea typeface="DM Sans"/>
                <a:cs typeface="DM Sans"/>
                <a:sym typeface="DM Sans"/>
              </a:rPr>
              <a:t>Same plant and inputs; six controller variants.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243943"/>
                </a:solidFill>
                <a:latin typeface="DM Sans"/>
                <a:ea typeface="DM Sans"/>
                <a:cs typeface="DM Sans"/>
                <a:sym typeface="DM Sans"/>
              </a:rPr>
              <a:t>20 synthetic scenarios + sEMG ablation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243943"/>
                </a:solidFill>
                <a:latin typeface="DM Sans"/>
                <a:ea typeface="DM Sans"/>
                <a:cs typeface="DM Sans"/>
                <a:sym typeface="DM Sans"/>
              </a:rPr>
              <a:t>+ replay of 60 recorded tremor signals.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66800" y="9705975"/>
            <a:ext cx="161544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89"/>
              </a:lnSpc>
              <a:spcBef>
                <a:spcPct val="0"/>
              </a:spcBef>
            </a:pPr>
            <a:r>
              <a:rPr lang="en-US" sz="1350" spc="54" strike="noStrike" u="none">
                <a:solidFill>
                  <a:srgbClr val="61717A"/>
                </a:solidFill>
                <a:latin typeface="IBM Plex Mono"/>
                <a:ea typeface="IBM Plex Mono"/>
                <a:cs typeface="IBM Plex Mono"/>
                <a:sym typeface="IBM Plex Mono"/>
              </a:rPr>
              <a:t>GROUP 18 · Driver: Texas Instruments (2019). Recorded tremor: Beuter et al. (2001). · 7 / 14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6800" y="552450"/>
            <a:ext cx="12858750" cy="1048512"/>
            <a:chOff x="0" y="0"/>
            <a:chExt cx="17145000" cy="1398016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1143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100"/>
                </a:lnSpc>
                <a:spcBef>
                  <a:spcPct val="0"/>
                </a:spcBef>
              </a:pPr>
              <a:r>
                <a:rPr lang="en-US" b="true" sz="1500" spc="120" strike="noStrike" u="none">
                  <a:solidFill>
                    <a:srgbClr val="CE742B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08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536575"/>
              <a:ext cx="17145000" cy="8614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704"/>
                </a:lnSpc>
                <a:spcBef>
                  <a:spcPct val="0"/>
                </a:spcBef>
              </a:pPr>
              <a:r>
                <a:rPr lang="en-US" b="true" sz="4800" strike="noStrike" u="none">
                  <a:solidFill>
                    <a:srgbClr val="172D3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Novelty: Preserving the User's Intent</a:t>
              </a:r>
            </a:p>
          </p:txBody>
        </p:sp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57104" y="1515416"/>
            <a:ext cx="11430140" cy="7637168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2001500" y="2524125"/>
            <a:ext cx="4762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08" b="true">
                <a:solidFill>
                  <a:srgbClr val="CE742B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SIMULATED MUSCLE CUE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001500" y="3276600"/>
            <a:ext cx="5238750" cy="846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21"/>
              </a:lnSpc>
              <a:spcBef>
                <a:spcPct val="0"/>
              </a:spcBef>
            </a:pPr>
            <a:r>
              <a:rPr lang="en-US" b="true" sz="6450" strike="noStrike" u="none">
                <a:solidFill>
                  <a:srgbClr val="CE74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14.7×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001500" y="4057650"/>
            <a:ext cx="4953000" cy="739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6"/>
              </a:lnSpc>
              <a:spcBef>
                <a:spcPct val="0"/>
              </a:spcBef>
            </a:pPr>
            <a:r>
              <a:rPr lang="en-US" sz="2175" strike="noStrike" u="none">
                <a:solidFill>
                  <a:srgbClr val="243943"/>
                </a:solidFill>
                <a:latin typeface="DM Sans"/>
                <a:ea typeface="DM Sans"/>
                <a:cs typeface="DM Sans"/>
                <a:sym typeface="DM Sans"/>
              </a:rPr>
              <a:t>Lower voluntary tracking error</a:t>
            </a:r>
          </a:p>
          <a:p>
            <a:pPr algn="l" marL="0" indent="0" lvl="0">
              <a:lnSpc>
                <a:spcPts val="2936"/>
              </a:lnSpc>
              <a:spcBef>
                <a:spcPct val="0"/>
              </a:spcBef>
            </a:pPr>
            <a:r>
              <a:rPr lang="en-US" sz="2175" strike="noStrike" u="none">
                <a:solidFill>
                  <a:srgbClr val="243943"/>
                </a:solidFill>
                <a:latin typeface="DM Sans"/>
                <a:ea typeface="DM Sans"/>
                <a:cs typeface="DM Sans"/>
                <a:sym typeface="DM Sans"/>
              </a:rPr>
              <a:t>3.0418° → 0.2070° RMS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001500" y="5534025"/>
            <a:ext cx="5143500" cy="2817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35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243943"/>
                </a:solidFill>
                <a:latin typeface="DM Sans"/>
                <a:ea typeface="DM Sans"/>
                <a:cs typeface="DM Sans"/>
                <a:sym typeface="DM Sans"/>
              </a:rPr>
              <a:t>Motion-based correction already exists (Pathak et al., 2014). Our contribution adds muscle-informed intent estimation to the two-axis mechanism.</a:t>
            </a:r>
          </a:p>
          <a:p>
            <a:pPr algn="l" marL="0" indent="0" lvl="0">
              <a:lnSpc>
                <a:spcPts val="2835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835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243943"/>
                </a:solidFill>
                <a:latin typeface="DM Sans"/>
                <a:ea typeface="DM Sans"/>
                <a:cs typeface="DM Sans"/>
                <a:sym typeface="DM Sans"/>
              </a:rPr>
              <a:t>Same hardware. Fixed-confidence baseline versus sEMG-gated control. Muscle signals simulated.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6800" y="9705975"/>
            <a:ext cx="161544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89"/>
              </a:lnSpc>
              <a:spcBef>
                <a:spcPct val="0"/>
              </a:spcBef>
            </a:pPr>
            <a:r>
              <a:rPr lang="en-US" sz="1350" spc="54" strike="noStrike" u="none">
                <a:solidFill>
                  <a:srgbClr val="61717A"/>
                </a:solidFill>
                <a:latin typeface="IBM Plex Mono"/>
                <a:ea typeface="IBM Plex Mono"/>
                <a:cs typeface="IBM Plex Mono"/>
                <a:sym typeface="IBM Plex Mono"/>
              </a:rPr>
              <a:t>GROUP 18 · Team simulation results. Log plots: lower is better. · 8 / 14</a:t>
            </a:r>
          </a:p>
        </p:txBody>
      </p:sp>
      <p:sp>
        <p:nvSpPr>
          <p:cNvPr name="Freeform 11" id="11" descr="Original report chart, complete and unmodified; only surrounding layout margins added."/>
          <p:cNvSpPr/>
          <p:nvPr/>
        </p:nvSpPr>
        <p:spPr>
          <a:xfrm flipH="false" flipV="false" rot="0">
            <a:off x="809625" y="2143125"/>
            <a:ext cx="10668000" cy="6477000"/>
          </a:xfrm>
          <a:custGeom>
            <a:avLst/>
            <a:gdLst/>
            <a:ahLst/>
            <a:cxnLst/>
            <a:rect r="r" b="b" t="t" l="l"/>
            <a:pathLst>
              <a:path h="6477000" w="10668000">
                <a:moveTo>
                  <a:pt x="0" y="0"/>
                </a:moveTo>
                <a:lnTo>
                  <a:pt x="10668000" y="0"/>
                </a:lnTo>
                <a:lnTo>
                  <a:pt x="10668000" y="6477000"/>
                </a:lnTo>
                <a:lnTo>
                  <a:pt x="0" y="647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3" t="0" r="-73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6800" y="552450"/>
            <a:ext cx="12858750" cy="1048512"/>
            <a:chOff x="0" y="0"/>
            <a:chExt cx="17145000" cy="1398016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1143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100"/>
                </a:lnSpc>
                <a:spcBef>
                  <a:spcPct val="0"/>
                </a:spcBef>
              </a:pPr>
              <a:r>
                <a:rPr lang="en-US" b="true" sz="1500" spc="120" strike="noStrike" u="none">
                  <a:solidFill>
                    <a:srgbClr val="CE742B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09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536575"/>
              <a:ext cx="17145000" cy="8614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04"/>
                </a:lnSpc>
              </a:pPr>
              <a:r>
                <a:rPr lang="en-US" sz="4800" b="true">
                  <a:solidFill>
                    <a:srgbClr val="172D3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Tremor Suppression in Simulation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66800" y="2847975"/>
            <a:ext cx="4953000" cy="846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21"/>
              </a:lnSpc>
              <a:spcBef>
                <a:spcPct val="0"/>
              </a:spcBef>
            </a:pPr>
            <a:r>
              <a:rPr lang="en-US" b="true" sz="6450" strike="noStrike" u="none">
                <a:solidFill>
                  <a:srgbClr val="CE74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93.04%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66800" y="3733800"/>
            <a:ext cx="4953000" cy="621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243943"/>
                </a:solidFill>
                <a:latin typeface="DM Sans"/>
                <a:ea typeface="DM Sans"/>
                <a:cs typeface="DM Sans"/>
                <a:sym typeface="DM Sans"/>
              </a:rPr>
              <a:t>mean · 16 feasible synthetic cases</a:t>
            </a:r>
          </a:p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243943"/>
                </a:solidFill>
                <a:latin typeface="DM Sans"/>
                <a:ea typeface="DM Sans"/>
                <a:cs typeface="DM Sans"/>
                <a:sym typeface="DM Sans"/>
              </a:rPr>
              <a:t>15 / 16 reached ≥90%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66800" y="5514975"/>
            <a:ext cx="4953000" cy="846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21"/>
              </a:lnSpc>
            </a:pPr>
            <a:r>
              <a:rPr lang="en-US" sz="6450" b="true">
                <a:solidFill>
                  <a:srgbClr val="172D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86.81%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66800" y="6400800"/>
            <a:ext cx="4953000" cy="621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243943"/>
                </a:solidFill>
                <a:latin typeface="DM Sans"/>
                <a:ea typeface="DM Sans"/>
                <a:cs typeface="DM Sans"/>
                <a:sym typeface="DM Sans"/>
              </a:rPr>
              <a:t>mean · 46 eligible recorded-input cases</a:t>
            </a:r>
          </a:p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243943"/>
                </a:solidFill>
                <a:latin typeface="DM Sans"/>
                <a:ea typeface="DM Sans"/>
                <a:cs typeface="DM Sans"/>
                <a:sym typeface="DM Sans"/>
              </a:rPr>
              <a:t>21 / 46 reached ≥90%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312938" y="1725092"/>
            <a:ext cx="11758123" cy="6932064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7239000" y="8496300"/>
            <a:ext cx="9906000" cy="817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04"/>
              </a:lnSpc>
              <a:spcBef>
                <a:spcPct val="0"/>
              </a:spcBef>
            </a:pPr>
            <a:r>
              <a:rPr lang="en-US" sz="1575" strike="noStrike" u="none">
                <a:solidFill>
                  <a:srgbClr val="61717A"/>
                </a:solidFill>
                <a:latin typeface="IBM Plex Mono"/>
                <a:ea typeface="IBM Plex Mono"/>
                <a:cs typeface="IBM Plex Mono"/>
                <a:sym typeface="IBM Plex Mono"/>
              </a:rPr>
              <a:t>Figure: 16 feasible synthetic scenarios; dashed line = 90% target.</a:t>
            </a:r>
          </a:p>
          <a:p>
            <a:pPr algn="l" marL="0" indent="0" lvl="0">
              <a:lnSpc>
                <a:spcPts val="2204"/>
              </a:lnSpc>
              <a:spcBef>
                <a:spcPct val="0"/>
              </a:spcBef>
            </a:pPr>
            <a:r>
              <a:rPr lang="en-US" sz="1575" strike="noStrike" u="none">
                <a:solidFill>
                  <a:srgbClr val="61717A"/>
                </a:solidFill>
                <a:latin typeface="IBM Plex Mono"/>
                <a:ea typeface="IBM Plex Mono"/>
                <a:cs typeface="IBM Plex Mono"/>
                <a:sym typeface="IBM Plex Mono"/>
              </a:rPr>
              <a:t>Metric: attitude RMS reduction vs a rigid spoon, not food transfer.</a:t>
            </a:r>
          </a:p>
          <a:p>
            <a:pPr algn="l" marL="0" indent="0" lvl="0">
              <a:lnSpc>
                <a:spcPts val="2204"/>
              </a:lnSpc>
              <a:spcBef>
                <a:spcPct val="0"/>
              </a:spcBef>
            </a:pPr>
            <a:r>
              <a:rPr lang="en-US" sz="1575" strike="noStrike" u="none">
                <a:solidFill>
                  <a:srgbClr val="61717A"/>
                </a:solidFill>
                <a:latin typeface="IBM Plex Mono"/>
                <a:ea typeface="IBM Plex Mono"/>
                <a:cs typeface="IBM Plex Mono"/>
                <a:sym typeface="IBM Plex Mono"/>
              </a:rPr>
              <a:t>Recorded-input tests use processed tremor and synthetic sEMG.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66800" y="9705975"/>
            <a:ext cx="161544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89"/>
              </a:lnSpc>
              <a:spcBef>
                <a:spcPct val="0"/>
              </a:spcBef>
            </a:pPr>
            <a:r>
              <a:rPr lang="en-US" sz="1350" spc="54" strike="noStrike" u="none">
                <a:solidFill>
                  <a:srgbClr val="61717A"/>
                </a:solidFill>
                <a:latin typeface="IBM Plex Mono"/>
                <a:ea typeface="IBM Plex Mono"/>
                <a:cs typeface="IBM Plex Mono"/>
                <a:sym typeface="IBM Plex Mono"/>
              </a:rPr>
              <a:t>GROUP 18 · Team simulation using recorded tremor (Beuter et al., 2001) · 9 / 14</a:t>
            </a:r>
          </a:p>
        </p:txBody>
      </p:sp>
      <p:sp>
        <p:nvSpPr>
          <p:cNvPr name="Freeform 12" id="12" descr="Original report chart, complete and unmodified; only surrounding layout margins added."/>
          <p:cNvSpPr/>
          <p:nvPr/>
        </p:nvSpPr>
        <p:spPr>
          <a:xfrm flipH="false" flipV="false" rot="0">
            <a:off x="6810375" y="2095500"/>
            <a:ext cx="10477500" cy="6191250"/>
          </a:xfrm>
          <a:custGeom>
            <a:avLst/>
            <a:gdLst/>
            <a:ahLst/>
            <a:cxnLst/>
            <a:rect r="r" b="b" t="t" l="l"/>
            <a:pathLst>
              <a:path h="6191250" w="10477500">
                <a:moveTo>
                  <a:pt x="0" y="0"/>
                </a:moveTo>
                <a:lnTo>
                  <a:pt x="10477500" y="0"/>
                </a:lnTo>
                <a:lnTo>
                  <a:pt x="10477500" y="6191250"/>
                </a:lnTo>
                <a:lnTo>
                  <a:pt x="0" y="61912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7" t="0" r="-77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6800" y="552450"/>
            <a:ext cx="16154400" cy="1048512"/>
            <a:chOff x="0" y="0"/>
            <a:chExt cx="21539200" cy="1398016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1143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100"/>
                </a:lnSpc>
                <a:spcBef>
                  <a:spcPct val="0"/>
                </a:spcBef>
              </a:pPr>
              <a:r>
                <a:rPr lang="en-US" b="true" sz="1500" spc="120" strike="noStrike" u="none">
                  <a:solidFill>
                    <a:srgbClr val="CE742B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10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536575"/>
              <a:ext cx="21539200" cy="8614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704"/>
                </a:lnSpc>
                <a:spcBef>
                  <a:spcPct val="0"/>
                </a:spcBef>
              </a:pPr>
              <a:r>
                <a:rPr lang="en-US" b="true" sz="4800" strike="noStrike" u="none">
                  <a:solidFill>
                    <a:srgbClr val="172D3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Feasibility: Strengths and Remaining Limits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43000" y="2857500"/>
            <a:ext cx="6286500" cy="4572000"/>
            <a:chOff x="0" y="0"/>
            <a:chExt cx="8382000" cy="609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382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8382000">
                  <a:moveTo>
                    <a:pt x="26939" y="0"/>
                  </a:moveTo>
                  <a:lnTo>
                    <a:pt x="8355061" y="0"/>
                  </a:lnTo>
                  <a:cubicBezTo>
                    <a:pt x="8362205" y="0"/>
                    <a:pt x="8369057" y="2838"/>
                    <a:pt x="8374110" y="7890"/>
                  </a:cubicBezTo>
                  <a:cubicBezTo>
                    <a:pt x="8379161" y="12942"/>
                    <a:pt x="8382000" y="19795"/>
                    <a:pt x="8382000" y="26939"/>
                  </a:cubicBezTo>
                  <a:lnTo>
                    <a:pt x="8382000" y="6069061"/>
                  </a:lnTo>
                  <a:cubicBezTo>
                    <a:pt x="8382000" y="6076205"/>
                    <a:pt x="8379161" y="6083057"/>
                    <a:pt x="8374110" y="6088110"/>
                  </a:cubicBezTo>
                  <a:cubicBezTo>
                    <a:pt x="8369057" y="6093162"/>
                    <a:pt x="8362205" y="6096000"/>
                    <a:pt x="8355061" y="6096000"/>
                  </a:cubicBezTo>
                  <a:lnTo>
                    <a:pt x="26939" y="6096000"/>
                  </a:lnTo>
                  <a:cubicBezTo>
                    <a:pt x="19795" y="6096000"/>
                    <a:pt x="12942" y="6093162"/>
                    <a:pt x="7890" y="6088110"/>
                  </a:cubicBezTo>
                  <a:cubicBezTo>
                    <a:pt x="2838" y="6083057"/>
                    <a:pt x="0" y="6076205"/>
                    <a:pt x="0" y="6069061"/>
                  </a:cubicBezTo>
                  <a:lnTo>
                    <a:pt x="0" y="26939"/>
                  </a:lnTo>
                  <a:cubicBezTo>
                    <a:pt x="0" y="19795"/>
                    <a:pt x="2838" y="12942"/>
                    <a:pt x="7890" y="7890"/>
                  </a:cubicBezTo>
                  <a:cubicBezTo>
                    <a:pt x="12942" y="2838"/>
                    <a:pt x="19795" y="0"/>
                    <a:pt x="26939" y="0"/>
                  </a:cubicBezTo>
                  <a:close/>
                </a:path>
              </a:pathLst>
            </a:custGeom>
            <a:solidFill>
              <a:srgbClr val="172D38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8382000" cy="6105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00"/>
                </a:lnSpc>
                <a:spcBef>
                  <a:spcPct val="0"/>
                </a:spcBef>
              </a:pPr>
              <a:r>
                <a:rPr lang="en-US" b="true" sz="2250" strike="noStrike" u="none">
                  <a:solidFill>
                    <a:srgbClr val="F5F4F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WHAT WORKED</a:t>
              </a:r>
            </a:p>
            <a:p>
              <a:pPr algn="ctr" marL="0" indent="0" lvl="0">
                <a:lnSpc>
                  <a:spcPts val="2700"/>
                </a:lnSpc>
                <a:spcBef>
                  <a:spcPct val="0"/>
                </a:spcBef>
              </a:pPr>
            </a:p>
            <a:p>
              <a:pPr algn="ctr" marL="0" indent="0" lvl="0">
                <a:lnSpc>
                  <a:spcPts val="2700"/>
                </a:lnSpc>
                <a:spcBef>
                  <a:spcPct val="0"/>
                </a:spcBef>
              </a:pPr>
              <a:r>
                <a:rPr lang="en-US" b="true" sz="2250" strike="noStrike" u="none">
                  <a:solidFill>
                    <a:srgbClr val="F5F4F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15/16 feasible synthetic cases met 90%.</a:t>
              </a:r>
            </a:p>
            <a:p>
              <a:pPr algn="ctr" marL="0" indent="0" lvl="0">
                <a:lnSpc>
                  <a:spcPts val="2700"/>
                </a:lnSpc>
                <a:spcBef>
                  <a:spcPct val="0"/>
                </a:spcBef>
              </a:pPr>
              <a:r>
                <a:rPr lang="en-US" b="true" sz="2250" strike="noStrike" u="none">
                  <a:solidFill>
                    <a:srgbClr val="F5F4F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Muscle cues improved intent separation.</a:t>
              </a:r>
            </a:p>
            <a:p>
              <a:pPr algn="ctr" marL="0" indent="0" lvl="0">
                <a:lnSpc>
                  <a:spcPts val="2700"/>
                </a:lnSpc>
                <a:spcBef>
                  <a:spcPct val="0"/>
                </a:spcBef>
              </a:pPr>
              <a:r>
                <a:rPr lang="en-US" b="true" sz="2250" strike="noStrike" u="none">
                  <a:solidFill>
                    <a:srgbClr val="F5F4F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17 automated verification groups passed.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763250" y="2857500"/>
            <a:ext cx="6286500" cy="4572000"/>
            <a:chOff x="0" y="0"/>
            <a:chExt cx="8382000" cy="609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382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8382000">
                  <a:moveTo>
                    <a:pt x="26939" y="0"/>
                  </a:moveTo>
                  <a:lnTo>
                    <a:pt x="8355061" y="0"/>
                  </a:lnTo>
                  <a:cubicBezTo>
                    <a:pt x="8362205" y="0"/>
                    <a:pt x="8369057" y="2838"/>
                    <a:pt x="8374110" y="7890"/>
                  </a:cubicBezTo>
                  <a:cubicBezTo>
                    <a:pt x="8379161" y="12942"/>
                    <a:pt x="8382000" y="19795"/>
                    <a:pt x="8382000" y="26939"/>
                  </a:cubicBezTo>
                  <a:lnTo>
                    <a:pt x="8382000" y="6069061"/>
                  </a:lnTo>
                  <a:cubicBezTo>
                    <a:pt x="8382000" y="6076205"/>
                    <a:pt x="8379161" y="6083057"/>
                    <a:pt x="8374110" y="6088110"/>
                  </a:cubicBezTo>
                  <a:cubicBezTo>
                    <a:pt x="8369057" y="6093162"/>
                    <a:pt x="8362205" y="6096000"/>
                    <a:pt x="8355061" y="6096000"/>
                  </a:cubicBezTo>
                  <a:lnTo>
                    <a:pt x="26939" y="6096000"/>
                  </a:lnTo>
                  <a:cubicBezTo>
                    <a:pt x="19795" y="6096000"/>
                    <a:pt x="12942" y="6093162"/>
                    <a:pt x="7890" y="6088110"/>
                  </a:cubicBezTo>
                  <a:cubicBezTo>
                    <a:pt x="2838" y="6083057"/>
                    <a:pt x="0" y="6076205"/>
                    <a:pt x="0" y="6069061"/>
                  </a:cubicBezTo>
                  <a:lnTo>
                    <a:pt x="0" y="26939"/>
                  </a:lnTo>
                  <a:cubicBezTo>
                    <a:pt x="0" y="19795"/>
                    <a:pt x="2838" y="12942"/>
                    <a:pt x="7890" y="7890"/>
                  </a:cubicBezTo>
                  <a:cubicBezTo>
                    <a:pt x="12942" y="2838"/>
                    <a:pt x="19795" y="0"/>
                    <a:pt x="26939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8382000" cy="6105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10"/>
                </a:lnSpc>
                <a:spcBef>
                  <a:spcPct val="0"/>
                </a:spcBef>
              </a:pPr>
              <a:r>
                <a:rPr lang="en-US" b="true" sz="2175" strike="noStrike" u="none">
                  <a:solidFill>
                    <a:srgbClr val="172D3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WHAT REMAINS</a:t>
              </a:r>
            </a:p>
            <a:p>
              <a:pPr algn="ctr" marL="0" indent="0" lvl="0">
                <a:lnSpc>
                  <a:spcPts val="2610"/>
                </a:lnSpc>
                <a:spcBef>
                  <a:spcPct val="0"/>
                </a:spcBef>
              </a:pPr>
            </a:p>
            <a:p>
              <a:pPr algn="ctr" marL="0" indent="0" lvl="0">
                <a:lnSpc>
                  <a:spcPts val="2610"/>
                </a:lnSpc>
                <a:spcBef>
                  <a:spcPct val="0"/>
                </a:spcBef>
              </a:pPr>
              <a:r>
                <a:rPr lang="en-US" b="true" sz="2175" strike="noStrike" u="none">
                  <a:solidFill>
                    <a:srgbClr val="172D3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Fast reach: 0.697° vs 0.289° IMU-only.</a:t>
              </a:r>
            </a:p>
            <a:p>
              <a:pPr algn="ctr" marL="0" indent="0" lvl="0">
                <a:lnSpc>
                  <a:spcPts val="2610"/>
                </a:lnSpc>
                <a:spcBef>
                  <a:spcPct val="0"/>
                </a:spcBef>
              </a:pPr>
              <a:r>
                <a:rPr lang="en-US" b="true" sz="2175" strike="noStrike" u="none">
                  <a:solidFill>
                    <a:srgbClr val="172D3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Recorded sEMG separation was inconsistent.</a:t>
              </a:r>
            </a:p>
            <a:p>
              <a:pPr algn="ctr" marL="0" indent="0" lvl="0">
                <a:lnSpc>
                  <a:spcPts val="2610"/>
                </a:lnSpc>
                <a:spcBef>
                  <a:spcPct val="0"/>
                </a:spcBef>
              </a:pPr>
              <a:r>
                <a:rPr lang="en-US" b="true" sz="2175" strike="noStrike" u="none">
                  <a:solidFill>
                    <a:srgbClr val="172D3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No physical prototype; cuff and hardware unvalidated.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>
            <a:off x="7715250" y="5143500"/>
            <a:ext cx="2762250" cy="0"/>
          </a:xfrm>
          <a:prstGeom prst="line">
            <a:avLst/>
          </a:prstGeom>
          <a:ln cap="rnd" w="57150">
            <a:solidFill>
              <a:srgbClr val="CE742B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12" id="12"/>
          <p:cNvSpPr txBox="true"/>
          <p:nvPr/>
        </p:nvSpPr>
        <p:spPr>
          <a:xfrm rot="0">
            <a:off x="1143000" y="8086725"/>
            <a:ext cx="15811500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10"/>
              </a:lnSpc>
              <a:spcBef>
                <a:spcPct val="0"/>
              </a:spcBef>
            </a:pPr>
            <a:r>
              <a:rPr lang="en-US" sz="2175" strike="noStrike" u="none">
                <a:solidFill>
                  <a:srgbClr val="61717A"/>
                </a:solidFill>
                <a:latin typeface="DM Sans"/>
                <a:ea typeface="DM Sans"/>
                <a:cs typeface="DM Sans"/>
                <a:sym typeface="DM Sans"/>
              </a:rPr>
              <a:t>Two-axis correction does not control translation.</a:t>
            </a:r>
          </a:p>
          <a:p>
            <a:pPr algn="ctr" marL="0" indent="0" lvl="0">
              <a:lnSpc>
                <a:spcPts val="2610"/>
              </a:lnSpc>
              <a:spcBef>
                <a:spcPct val="0"/>
              </a:spcBef>
            </a:pPr>
            <a:r>
              <a:rPr lang="en-US" sz="2175" strike="noStrike" u="none">
                <a:solidFill>
                  <a:srgbClr val="61717A"/>
                </a:solidFill>
                <a:latin typeface="DM Sans"/>
                <a:ea typeface="DM Sans"/>
                <a:cs typeface="DM Sans"/>
                <a:sym typeface="DM Sans"/>
              </a:rPr>
              <a:t>Next: synchronised recordings, bench tests and food-transfer trials.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66800" y="9705975"/>
            <a:ext cx="161544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89"/>
              </a:lnSpc>
              <a:spcBef>
                <a:spcPct val="0"/>
              </a:spcBef>
            </a:pPr>
            <a:r>
              <a:rPr lang="en-US" sz="1350" spc="54" strike="noStrike" u="none">
                <a:solidFill>
                  <a:srgbClr val="61717A"/>
                </a:solidFill>
                <a:latin typeface="IBM Plex Mono"/>
                <a:ea typeface="IBM Plex Mono"/>
                <a:cs typeface="IBM Plex Mono"/>
                <a:sym typeface="IBM Plex Mono"/>
              </a:rPr>
              <a:t>GROUP 18 · Team evaluation using GRABMyo data (Pradhan et al., 2022) · 10 / 14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6800" y="552450"/>
            <a:ext cx="12858750" cy="1048512"/>
            <a:chOff x="0" y="0"/>
            <a:chExt cx="17145000" cy="1398016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1143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100"/>
                </a:lnSpc>
                <a:spcBef>
                  <a:spcPct val="0"/>
                </a:spcBef>
              </a:pPr>
              <a:r>
                <a:rPr lang="en-US" b="true" sz="1500" spc="120" strike="noStrike" u="none">
                  <a:solidFill>
                    <a:srgbClr val="CE742B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11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536575"/>
              <a:ext cx="17145000" cy="8614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04"/>
                </a:lnSpc>
              </a:pPr>
              <a:r>
                <a:rPr lang="en-US" sz="4800" b="true">
                  <a:solidFill>
                    <a:srgbClr val="172D3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New Zealand Launch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66800" y="2638425"/>
            <a:ext cx="4572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08" b="true">
                <a:solidFill>
                  <a:srgbClr val="CE742B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CUSTOMER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66800" y="3086100"/>
            <a:ext cx="7239000" cy="708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6"/>
              </a:lnSpc>
            </a:pPr>
            <a:r>
              <a:rPr lang="en-US" sz="2325" b="true">
                <a:solidFill>
                  <a:srgbClr val="172D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Adults whose tremor disrupts eating</a:t>
            </a:r>
          </a:p>
          <a:p>
            <a:pPr algn="l">
              <a:lnSpc>
                <a:spcPts val="2836"/>
              </a:lnSpc>
            </a:pPr>
            <a:r>
              <a:rPr lang="en-US" sz="2325" b="true">
                <a:solidFill>
                  <a:srgbClr val="172D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Families may be the buyer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66800" y="4733925"/>
            <a:ext cx="4572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08" b="true">
                <a:solidFill>
                  <a:srgbClr val="CE742B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CHANNEL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66800" y="5181600"/>
            <a:ext cx="7239000" cy="708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6"/>
              </a:lnSpc>
            </a:pPr>
            <a:r>
              <a:rPr lang="en-US" sz="2325" b="true">
                <a:solidFill>
                  <a:srgbClr val="172D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Occupational therapists</a:t>
            </a:r>
          </a:p>
          <a:p>
            <a:pPr algn="l">
              <a:lnSpc>
                <a:spcPts val="2836"/>
              </a:lnSpc>
            </a:pPr>
            <a:r>
              <a:rPr lang="en-US" sz="2325" b="true">
                <a:solidFill>
                  <a:srgbClr val="172D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Rehabilitation providers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77500" y="3067050"/>
            <a:ext cx="5715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08" b="true">
                <a:solidFill>
                  <a:srgbClr val="CE742B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3-YEAR PLANNING ASSUMPTION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77500" y="3886200"/>
            <a:ext cx="6191250" cy="810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27"/>
              </a:lnSpc>
            </a:pPr>
            <a:r>
              <a:rPr lang="en-US" sz="6150" b="true">
                <a:solidFill>
                  <a:srgbClr val="CE74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65–280 sets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66800" y="8372475"/>
            <a:ext cx="15716250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3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243943"/>
                </a:solidFill>
                <a:latin typeface="DM Sans"/>
                <a:ea typeface="DM Sans"/>
                <a:cs typeface="DM Sans"/>
                <a:sym typeface="DM Sans"/>
              </a:rPr>
              <a:t>Pilot with rehabilitation partners: food transfer vs standard and weighted spoons</a:t>
            </a:r>
          </a:p>
          <a:p>
            <a:pPr algn="l" marL="0" indent="0" lvl="0">
              <a:lnSpc>
                <a:spcPts val="243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243943"/>
                </a:solidFill>
                <a:latin typeface="DM Sans"/>
                <a:ea typeface="DM Sans"/>
                <a:cs typeface="DM Sans"/>
                <a:sym typeface="DM Sans"/>
              </a:rPr>
              <a:t>New Zealand first. Australia next.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77500" y="5105400"/>
            <a:ext cx="6191250" cy="1017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29"/>
              </a:lnSpc>
              <a:spcBef>
                <a:spcPct val="0"/>
              </a:spcBef>
            </a:pPr>
            <a:r>
              <a:rPr lang="en-US" b="true" sz="1950" spc="156" strike="noStrike" u="none">
                <a:solidFill>
                  <a:srgbClr val="19323D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2% of the assumed serviceable market</a:t>
            </a:r>
          </a:p>
          <a:p>
            <a:pPr algn="ctr" marL="0" indent="0" lvl="0">
              <a:lnSpc>
                <a:spcPts val="2729"/>
              </a:lnSpc>
              <a:spcBef>
                <a:spcPct val="0"/>
              </a:spcBef>
            </a:pPr>
            <a:r>
              <a:rPr lang="en-US" b="true" sz="1950" spc="156" strike="noStrike" u="none">
                <a:solidFill>
                  <a:srgbClr val="19323D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A planning scenario, not measured demand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66800" y="9705975"/>
            <a:ext cx="161544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89"/>
              </a:lnSpc>
              <a:spcBef>
                <a:spcPct val="0"/>
              </a:spcBef>
            </a:pPr>
            <a:r>
              <a:rPr lang="en-US" sz="1350" spc="54" strike="noStrike" u="none">
                <a:solidFill>
                  <a:srgbClr val="61717A"/>
                </a:solidFill>
                <a:latin typeface="IBM Plex Mono"/>
                <a:ea typeface="IBM Plex Mono"/>
                <a:cs typeface="IBM Plex Mono"/>
                <a:sym typeface="IBM Plex Mono"/>
              </a:rPr>
              <a:t>GROUP 18 · Team market assumptions and proposed pilot · 11 / 14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6800" y="552450"/>
            <a:ext cx="12858750" cy="1048512"/>
            <a:chOff x="0" y="0"/>
            <a:chExt cx="17145000" cy="1398016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1143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100"/>
                </a:lnSpc>
                <a:spcBef>
                  <a:spcPct val="0"/>
                </a:spcBef>
              </a:pPr>
              <a:r>
                <a:rPr lang="en-US" b="true" sz="1500" spc="120" strike="noStrike" u="none">
                  <a:solidFill>
                    <a:srgbClr val="CE742B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12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536575"/>
              <a:ext cx="17145000" cy="8614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04"/>
                </a:lnSpc>
              </a:pPr>
              <a:r>
                <a:rPr lang="en-US" sz="4800" b="true">
                  <a:solidFill>
                    <a:srgbClr val="172D3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Pricing and Unit Economics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66800" y="2590800"/>
            <a:ext cx="619125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08" b="true">
                <a:solidFill>
                  <a:srgbClr val="CE742B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INTRODUCTORY PRICE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66800" y="3200400"/>
            <a:ext cx="7620000" cy="1235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61"/>
              </a:lnSpc>
            </a:pPr>
            <a:r>
              <a:rPr lang="en-US" sz="9450" b="true">
                <a:solidFill>
                  <a:srgbClr val="CE74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NZ$699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66800" y="4333875"/>
            <a:ext cx="285750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243943"/>
                </a:solidFill>
                <a:latin typeface="DM Sans"/>
                <a:ea typeface="DM Sans"/>
                <a:cs typeface="DM Sans"/>
                <a:sym typeface="DM Sans"/>
              </a:rPr>
              <a:t>incl GST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66800" y="5143500"/>
            <a:ext cx="6858000" cy="38100"/>
            <a:chOff x="0" y="0"/>
            <a:chExt cx="9144000" cy="50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0" cy="50800"/>
            </a:xfrm>
            <a:custGeom>
              <a:avLst/>
              <a:gdLst/>
              <a:ahLst/>
              <a:cxnLst/>
              <a:rect r="r" b="b" t="t" l="l"/>
              <a:pathLst>
                <a:path h="508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E3E1DA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1440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66800" y="5676900"/>
            <a:ext cx="6667500" cy="305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2"/>
              </a:lnSpc>
            </a:pPr>
            <a:r>
              <a:rPr lang="en-US" sz="2400" b="true">
                <a:solidFill>
                  <a:srgbClr val="172D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Regular  NZ$799 incl GST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66800" y="6353175"/>
            <a:ext cx="7429500" cy="307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243943"/>
                </a:solidFill>
                <a:latin typeface="DM Sans"/>
                <a:ea typeface="DM Sans"/>
                <a:cs typeface="DM Sans"/>
                <a:sym typeface="DM Sans"/>
              </a:rPr>
              <a:t>Lease  NZ$30–40 / month incl GST · 30 months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048750" y="2476500"/>
            <a:ext cx="19050" cy="5715000"/>
            <a:chOff x="0" y="0"/>
            <a:chExt cx="25400" cy="7620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54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7620000"/>
                  </a:lnTo>
                  <a:lnTo>
                    <a:pt x="0" y="7620000"/>
                  </a:lnTo>
                  <a:close/>
                </a:path>
              </a:pathLst>
            </a:custGeom>
            <a:solidFill>
              <a:srgbClr val="E3E1DA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5400" cy="765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572750" y="2686050"/>
            <a:ext cx="561975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08" b="true">
                <a:solidFill>
                  <a:srgbClr val="CE742B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TARGET LANDED COST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572750" y="3257550"/>
            <a:ext cx="5715000" cy="703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2"/>
              </a:lnSpc>
            </a:pPr>
            <a:r>
              <a:rPr lang="en-US" sz="5400" b="true">
                <a:solidFill>
                  <a:srgbClr val="172D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NZ$294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572750" y="3971925"/>
            <a:ext cx="600075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243943"/>
                </a:solidFill>
                <a:latin typeface="DM Sans"/>
                <a:ea typeface="DM Sans"/>
                <a:cs typeface="DM Sans"/>
                <a:sym typeface="DM Sans"/>
              </a:rPr>
              <a:t>ex GST · budget NZ$300 at ~1,000 units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572750" y="5543550"/>
            <a:ext cx="561975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08" b="true">
                <a:solidFill>
                  <a:srgbClr val="CE742B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DIRECT GROSS PROFIT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572750" y="6096000"/>
            <a:ext cx="6191250" cy="513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9"/>
              </a:lnSpc>
            </a:pPr>
            <a:r>
              <a:rPr lang="en-US" sz="4050" b="true">
                <a:solidFill>
                  <a:srgbClr val="CE742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~NZ$308  /  51%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572750" y="8201025"/>
            <a:ext cx="6191250" cy="853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61717A"/>
                </a:solidFill>
                <a:latin typeface="IBM Plex Mono"/>
                <a:ea typeface="IBM Plex Mono"/>
                <a:cs typeface="IBM Plex Mono"/>
                <a:sym typeface="IBM Plex Mono"/>
              </a:rPr>
              <a:t>Planning targets, not supplier quotes. Cost excludes development, tooling and compliance. Gross margin is before support and marketing.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66800" y="9705975"/>
            <a:ext cx="161544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89"/>
              </a:lnSpc>
              <a:spcBef>
                <a:spcPct val="0"/>
              </a:spcBef>
            </a:pPr>
            <a:r>
              <a:rPr lang="en-US" sz="1350" spc="54" strike="noStrike" u="none">
                <a:solidFill>
                  <a:srgbClr val="61717A"/>
                </a:solidFill>
                <a:latin typeface="IBM Plex Mono"/>
                <a:ea typeface="IBM Plex Mono"/>
                <a:cs typeface="IBM Plex Mono"/>
                <a:sym typeface="IBM Plex Mono"/>
              </a:rPr>
              <a:t>GROUP 18 · Team pricing, cost and margin estimates · 12 / 14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172D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6800" y="552450"/>
            <a:ext cx="12858750" cy="1048512"/>
            <a:chOff x="0" y="0"/>
            <a:chExt cx="17145000" cy="1398016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1143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100"/>
                </a:lnSpc>
                <a:spcBef>
                  <a:spcPct val="0"/>
                </a:spcBef>
              </a:pPr>
              <a:r>
                <a:rPr lang="en-US" b="true" sz="1500" spc="120" strike="noStrike" u="none">
                  <a:solidFill>
                    <a:srgbClr val="CE742B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13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536575"/>
              <a:ext cx="17145000" cy="8614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04"/>
                </a:lnSpc>
              </a:pPr>
              <a:r>
                <a:rPr lang="en-US" sz="4800" b="true">
                  <a:solidFill>
                    <a:srgbClr val="F5F4F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Next Step: A Tested Prototype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382750" y="0"/>
            <a:ext cx="3905250" cy="10287000"/>
            <a:chOff x="0" y="0"/>
            <a:chExt cx="5207000" cy="1371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207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207000">
                  <a:moveTo>
                    <a:pt x="0" y="0"/>
                  </a:moveTo>
                  <a:lnTo>
                    <a:pt x="5207000" y="0"/>
                  </a:lnTo>
                  <a:lnTo>
                    <a:pt x="5207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CE742B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207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66800" y="2409825"/>
            <a:ext cx="10001250" cy="172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15"/>
              </a:lnSpc>
              <a:spcBef>
                <a:spcPct val="0"/>
              </a:spcBef>
            </a:pPr>
            <a:r>
              <a:rPr lang="en-US" b="true" sz="6300" strike="noStrike" u="none">
                <a:solidFill>
                  <a:srgbClr val="F5F4F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Steadier eating with</a:t>
            </a:r>
          </a:p>
          <a:p>
            <a:pPr algn="l" marL="0" indent="0" lvl="0">
              <a:lnSpc>
                <a:spcPts val="6615"/>
              </a:lnSpc>
              <a:spcBef>
                <a:spcPct val="0"/>
              </a:spcBef>
            </a:pPr>
            <a:r>
              <a:rPr lang="en-US" b="true" sz="6300" strike="noStrike" u="none">
                <a:solidFill>
                  <a:srgbClr val="F5F4F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voluntary control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66800" y="5638800"/>
            <a:ext cx="762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CE742B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05000" y="5581650"/>
            <a:ext cx="1095375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F5F4F0"/>
                </a:solidFill>
                <a:latin typeface="DM Sans"/>
                <a:ea typeface="DM Sans"/>
                <a:cs typeface="DM Sans"/>
                <a:sym typeface="DM Sans"/>
              </a:rPr>
              <a:t>Rehabilitation partners · bench control · sealing · battery · thermal safety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66800" y="6543675"/>
            <a:ext cx="762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CE742B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05000" y="6486525"/>
            <a:ext cx="1095375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F5F4F0"/>
                </a:solidFill>
                <a:latin typeface="DM Sans"/>
                <a:ea typeface="DM Sans"/>
                <a:cs typeface="DM Sans"/>
                <a:sym typeface="DM Sans"/>
              </a:rPr>
              <a:t>66°C worst-case handle estimate requires mitigation before participant use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66800" y="7448550"/>
            <a:ext cx="762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CE742B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05000" y="7400925"/>
            <a:ext cx="10953750" cy="332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F5F4F0"/>
                </a:solidFill>
                <a:latin typeface="DM Sans"/>
                <a:ea typeface="DM Sans"/>
                <a:cs typeface="DM Sans"/>
                <a:sym typeface="DM Sans"/>
              </a:rPr>
              <a:t>Regulatory pathway · ethics-approved usability pilot · supplier quotes · production testing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192000" y="8582025"/>
            <a:ext cx="495300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310"/>
              </a:lnSpc>
              <a:spcBef>
                <a:spcPct val="0"/>
              </a:spcBef>
            </a:pPr>
            <a:r>
              <a:rPr lang="en-US" b="true" sz="1650" spc="132" strike="noStrike" u="none">
                <a:solidFill>
                  <a:srgbClr val="F5F4F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WAND notification is not approval</a:t>
            </a:r>
          </a:p>
          <a:p>
            <a:pPr algn="r" marL="0" indent="0" lvl="0">
              <a:lnSpc>
                <a:spcPts val="2310"/>
              </a:lnSpc>
              <a:spcBef>
                <a:spcPct val="0"/>
              </a:spcBef>
            </a:pPr>
            <a:r>
              <a:rPr lang="en-US" b="true" sz="1650" spc="132" strike="noStrike" u="none">
                <a:solidFill>
                  <a:srgbClr val="F5F4F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(Medsafe, 2011).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66800" y="9705975"/>
            <a:ext cx="161544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89"/>
              </a:lnSpc>
              <a:spcBef>
                <a:spcPct val="0"/>
              </a:spcBef>
            </a:pPr>
            <a:r>
              <a:rPr lang="en-US" sz="1350" spc="54" strike="noStrike" u="none">
                <a:solidFill>
                  <a:srgbClr val="9AA5AA"/>
                </a:solidFill>
                <a:latin typeface="IBM Plex Mono"/>
                <a:ea typeface="IBM Plex Mono"/>
                <a:cs typeface="IBM Plex Mono"/>
                <a:sym typeface="IBM Plex Mono"/>
              </a:rPr>
              <a:t>GROUP 18 · Proposed development plan · 13 / 14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66800" y="952500"/>
            <a:ext cx="3657600" cy="606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4500" b="true">
                <a:solidFill>
                  <a:srgbClr val="19323D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References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66800" y="9639186"/>
            <a:ext cx="13335000" cy="214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5"/>
              </a:lnSpc>
            </a:pPr>
            <a:r>
              <a:rPr lang="en-US" sz="1275" b="true">
                <a:solidFill>
                  <a:srgbClr val="1E3256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External sources cited in the presentation. Team designs, interview and simulation results are original project work.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617952" y="9630101"/>
            <a:ext cx="1883664" cy="21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755"/>
              </a:lnSpc>
              <a:spcBef>
                <a:spcPct val="0"/>
              </a:spcBef>
            </a:pPr>
            <a:r>
              <a:rPr lang="en-US" b="true" sz="1254" spc="25" strike="noStrike" u="none">
                <a:solidFill>
                  <a:srgbClr val="1E3256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GROUP 18 · 14 / 14</a:t>
            </a:r>
          </a:p>
        </p:txBody>
      </p:sp>
      <p:sp>
        <p:nvSpPr>
          <p:cNvPr name="Freeform 6" id="6" descr="APA 7 reference list: fourteen verified external sources, alphabetically ordered, with hanging indents, italic publication titles and volumes, and complete DOI or URL. Editable source text is retained in the project reference file."/>
          <p:cNvSpPr/>
          <p:nvPr/>
        </p:nvSpPr>
        <p:spPr>
          <a:xfrm flipH="false" flipV="false" rot="0">
            <a:off x="1066800" y="2047875"/>
            <a:ext cx="16154400" cy="7334250"/>
          </a:xfrm>
          <a:custGeom>
            <a:avLst/>
            <a:gdLst/>
            <a:ahLst/>
            <a:cxnLst/>
            <a:rect r="r" b="b" t="t" l="l"/>
            <a:pathLst>
              <a:path h="7334250" w="16154400">
                <a:moveTo>
                  <a:pt x="0" y="0"/>
                </a:moveTo>
                <a:lnTo>
                  <a:pt x="16154400" y="0"/>
                </a:lnTo>
                <a:lnTo>
                  <a:pt x="16154400" y="7334250"/>
                </a:lnTo>
                <a:lnTo>
                  <a:pt x="0" y="73342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DAHWqgnz3ZU</dc:identifier>
  <dcterms:modified xsi:type="dcterms:W3CDTF">2011-08-01T06:04:30Z</dcterms:modified>
  <cp:revision>1</cp:revision>
  <dc:title>SensoSpoon Group 18</dc:title>
</cp:coreProperties>
</file>